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7" r:id="rId5"/>
    <p:sldId id="278" r:id="rId6"/>
    <p:sldId id="261" r:id="rId7"/>
    <p:sldId id="279" r:id="rId8"/>
    <p:sldId id="263" r:id="rId9"/>
    <p:sldId id="264" r:id="rId10"/>
    <p:sldId id="280" r:id="rId11"/>
    <p:sldId id="266" r:id="rId12"/>
    <p:sldId id="267" r:id="rId13"/>
    <p:sldId id="268" r:id="rId14"/>
    <p:sldId id="270" r:id="rId15"/>
    <p:sldId id="281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Merriweather Sans" pitchFamily="2" charset="77"/>
      <p:regular r:id="rId28"/>
      <p:bold r:id="rId29"/>
      <p:italic r:id="rId30"/>
      <p:boldItalic r:id="rId31"/>
    </p:embeddedFont>
    <p:embeddedFont>
      <p:font typeface="Merriweather Sans Bold" pitchFamily="2" charset="77"/>
      <p:regular r:id="rId32"/>
      <p:bold r:id="rId33"/>
    </p:embeddedFont>
    <p:embeddedFont>
      <p:font typeface="Merriweather Sans Light" pitchFamily="2" charset="77"/>
      <p:regular r:id="rId34"/>
      <p: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558" autoAdjust="0"/>
  </p:normalViewPr>
  <p:slideViewPr>
    <p:cSldViewPr>
      <p:cViewPr varScale="1">
        <p:scale>
          <a:sx n="80" d="100"/>
          <a:sy n="80" d="100"/>
        </p:scale>
        <p:origin x="94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4336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3811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3920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96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93628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3.sv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kaggle.com/code/annastasy/mental-health-sentiment-analysis-nlp-ml/input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478" y="2009620"/>
            <a:ext cx="18338954" cy="8300526"/>
            <a:chOff x="0" y="0"/>
            <a:chExt cx="24451938" cy="11067368"/>
          </a:xfrm>
        </p:grpSpPr>
        <p:sp>
          <p:nvSpPr>
            <p:cNvPr id="3" name="Freeform 3" descr="A person sitting at a desk using a computer  Description automatically generated"/>
            <p:cNvSpPr/>
            <p:nvPr/>
          </p:nvSpPr>
          <p:spPr>
            <a:xfrm>
              <a:off x="0" y="0"/>
              <a:ext cx="24451945" cy="11067415"/>
            </a:xfrm>
            <a:custGeom>
              <a:avLst/>
              <a:gdLst/>
              <a:ahLst/>
              <a:cxnLst/>
              <a:rect l="l" t="t" r="r" b="b"/>
              <a:pathLst>
                <a:path w="24451945" h="11067415">
                  <a:moveTo>
                    <a:pt x="0" y="0"/>
                  </a:moveTo>
                  <a:lnTo>
                    <a:pt x="24451945" y="0"/>
                  </a:lnTo>
                  <a:lnTo>
                    <a:pt x="24451945" y="11067415"/>
                  </a:lnTo>
                  <a:lnTo>
                    <a:pt x="0" y="11067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" t="-195" r="-6250" b="-5634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7176" y="2000096"/>
            <a:ext cx="18324700" cy="8321702"/>
            <a:chOff x="0" y="0"/>
            <a:chExt cx="24432934" cy="11095602"/>
          </a:xfrm>
        </p:grpSpPr>
        <p:sp>
          <p:nvSpPr>
            <p:cNvPr id="5" name="Freeform 5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8" name="Freeform 8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61" r="-562" b="1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10" name="Freeform 10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" r="-109" b="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04" r="5" b="-602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4" name="Freeform 14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378" t="-31606" r="-19623" b="-31609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73" r="-16160" b="-51433"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2061220" y="3067194"/>
            <a:ext cx="6380205" cy="6194822"/>
            <a:chOff x="0" y="0"/>
            <a:chExt cx="8506940" cy="8259762"/>
          </a:xfrm>
        </p:grpSpPr>
        <p:sp>
          <p:nvSpPr>
            <p:cNvPr id="18" name="Freeform 18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5" b="-15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 rot="-180000">
            <a:off x="11931236" y="5686990"/>
            <a:ext cx="4077596" cy="938508"/>
            <a:chOff x="0" y="0"/>
            <a:chExt cx="5436794" cy="1251344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5411343" cy="1225931"/>
            </a:xfrm>
            <a:custGeom>
              <a:avLst/>
              <a:gdLst/>
              <a:ahLst/>
              <a:cxnLst/>
              <a:rect l="l" t="t" r="r" b="b"/>
              <a:pathLst>
                <a:path w="5411343" h="1225931">
                  <a:moveTo>
                    <a:pt x="0" y="0"/>
                  </a:moveTo>
                  <a:lnTo>
                    <a:pt x="5411343" y="0"/>
                  </a:lnTo>
                  <a:lnTo>
                    <a:pt x="5411343" y="1225931"/>
                  </a:lnTo>
                  <a:lnTo>
                    <a:pt x="0" y="1225931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9175972" y="4812747"/>
            <a:ext cx="6433237" cy="177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550" b="1" spc="22" dirty="0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 new generation</a:t>
            </a:r>
          </a:p>
          <a:p>
            <a:pPr algn="ctr">
              <a:lnSpc>
                <a:spcPts val="6659"/>
              </a:lnSpc>
            </a:pPr>
            <a:r>
              <a:rPr lang="en-US" sz="5550" b="1" spc="22" dirty="0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of tech specialists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576" y="2095499"/>
            <a:ext cx="10534406" cy="8191501"/>
            <a:chOff x="0" y="0"/>
            <a:chExt cx="24432934" cy="1109560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6" name="Freeform 6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8" name="Freeform 8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10" name="Freeform 10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4" name="Freeform 14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r="-16160" b="-5143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061221" y="3067194"/>
            <a:ext cx="4720580" cy="4583419"/>
            <a:chOff x="0" y="0"/>
            <a:chExt cx="8506940" cy="825976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" b="-1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562981" y="2491798"/>
            <a:ext cx="7223548" cy="254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400" b="1" spc="22" dirty="0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 </a:t>
            </a:r>
            <a:r>
              <a:rPr lang="en-US" sz="5400" b="1" spc="22" dirty="0">
                <a:solidFill>
                  <a:srgbClr val="2B2551"/>
                </a:solidFill>
                <a:latin typeface="Merriweather Sans Bold"/>
                <a:ea typeface="Merriweather Sans Bold"/>
                <a:cs typeface="Times New Roman" panose="02020603050405020304" pitchFamily="18" charset="0"/>
                <a:sym typeface="Merriweather Sans Bold"/>
              </a:rPr>
              <a:t>Mental Health Detection from Social Media Posts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63905" y="6222437"/>
            <a:ext cx="4423317" cy="50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8"/>
              </a:lnSpc>
            </a:pPr>
            <a:r>
              <a:rPr lang="en-US" sz="3398" b="1" spc="13" dirty="0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By Group 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4049BC-8CBA-645D-F589-D2873365765C}"/>
              </a:ext>
            </a:extLst>
          </p:cNvPr>
          <p:cNvSpPr txBox="1"/>
          <p:nvPr/>
        </p:nvSpPr>
        <p:spPr>
          <a:xfrm>
            <a:off x="11125200" y="6972300"/>
            <a:ext cx="37786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2060"/>
                </a:solidFill>
                <a:effectLst/>
                <a:latin typeface="+mj-lt"/>
              </a:rPr>
              <a:t>Phyo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 Ko Ko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Aung Thu </a:t>
            </a:r>
            <a:r>
              <a:rPr lang="en-US" sz="2800" b="1" dirty="0" err="1">
                <a:solidFill>
                  <a:srgbClr val="002060"/>
                </a:solidFill>
                <a:effectLst/>
                <a:latin typeface="+mj-lt"/>
              </a:rPr>
              <a:t>Phyo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2060"/>
                </a:solidFill>
                <a:effectLst/>
                <a:latin typeface="+mj-lt"/>
              </a:rPr>
              <a:t>Su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 Mon Hlaing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Moe </a:t>
            </a:r>
            <a:r>
              <a:rPr lang="en-US" sz="2800" b="1" dirty="0" err="1">
                <a:solidFill>
                  <a:srgbClr val="002060"/>
                </a:solidFill>
                <a:effectLst/>
                <a:latin typeface="+mj-lt"/>
              </a:rPr>
              <a:t>Thet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/>
                <a:latin typeface="+mj-lt"/>
              </a:rPr>
              <a:t>Hmue</a:t>
            </a: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effectLst/>
                <a:latin typeface="+mj-lt"/>
              </a:rPr>
              <a:t>Nang Mon Kham </a:t>
            </a:r>
          </a:p>
          <a:p>
            <a:endParaRPr lang="en-KR" sz="2800" dirty="0">
              <a:solidFill>
                <a:srgbClr val="002060"/>
              </a:solidFill>
              <a:latin typeface="+mj-lt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51756" y="4417002"/>
            <a:ext cx="12030496" cy="477892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217170" lvl="1" algn="l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01002" y="1091070"/>
            <a:ext cx="11831585" cy="2835200"/>
            <a:chOff x="-572089" y="-1892395"/>
            <a:chExt cx="15775446" cy="3780268"/>
          </a:xfrm>
        </p:grpSpPr>
        <p:sp>
          <p:nvSpPr>
            <p:cNvPr id="8" name="Freeform 8"/>
            <p:cNvSpPr/>
            <p:nvPr/>
          </p:nvSpPr>
          <p:spPr>
            <a:xfrm>
              <a:off x="-334194" y="123380"/>
              <a:ext cx="15537551" cy="1764493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scene3d>
              <a:camera prst="orthographicFront"/>
              <a:lightRig rig="threePt" dir="t"/>
            </a:scene3d>
            <a:sp3d prstMaterial="dkEdge"/>
          </p:spPr>
        </p:sp>
        <p:sp>
          <p:nvSpPr>
            <p:cNvPr id="9" name="TextBox 9"/>
            <p:cNvSpPr txBox="1"/>
            <p:nvPr/>
          </p:nvSpPr>
          <p:spPr>
            <a:xfrm>
              <a:off x="-572089" y="-1892395"/>
              <a:ext cx="15537550" cy="170734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 prstMaterial="dkEdge"/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Background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B47531D-58DC-8F74-5230-2EF66BE282A1}"/>
              </a:ext>
            </a:extLst>
          </p:cNvPr>
          <p:cNvSpPr/>
          <p:nvPr/>
        </p:nvSpPr>
        <p:spPr>
          <a:xfrm>
            <a:off x="756626" y="3101175"/>
            <a:ext cx="10846352" cy="132336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7170" lvl="1" algn="l">
              <a:lnSpc>
                <a:spcPts val="2879"/>
              </a:lnSpc>
            </a:pPr>
            <a:r>
              <a:rPr lang="en-US" sz="2000" b="1" spc="9" dirty="0">
                <a:solidFill>
                  <a:srgbClr val="FF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Context :</a:t>
            </a:r>
            <a:r>
              <a:rPr lang="en-US" sz="2000" spc="9" dirty="0">
                <a:solidFill>
                  <a:srgbClr val="FF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20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Mental health is a critical component of global well-being. Platforms like Facebook and X are primary forums for personal expression where users share emotions, creating a massive data stream where distress signals are often lost.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5701CEC-2536-6083-ADB1-D5CEAAF294C4}"/>
              </a:ext>
            </a:extLst>
          </p:cNvPr>
          <p:cNvSpPr/>
          <p:nvPr/>
        </p:nvSpPr>
        <p:spPr>
          <a:xfrm>
            <a:off x="756625" y="5532062"/>
            <a:ext cx="10901975" cy="14224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7170" lvl="1" algn="l">
              <a:lnSpc>
                <a:spcPts val="2879"/>
              </a:lnSpc>
            </a:pPr>
            <a:r>
              <a:rPr lang="en-US" sz="2000" b="1" spc="9" dirty="0">
                <a:solidFill>
                  <a:srgbClr val="FF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Problem: </a:t>
            </a:r>
            <a:r>
              <a:rPr lang="en-US" sz="20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Traditional manual support and reactive reporting tools cannot handle the volume of millions of daily posts. Subtle linguistic patterns of distress often go unnoticed until a crisis becomes apparent.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F16F0F1-1D0C-2820-1C82-783D1EC184E6}"/>
              </a:ext>
            </a:extLst>
          </p:cNvPr>
          <p:cNvSpPr/>
          <p:nvPr/>
        </p:nvSpPr>
        <p:spPr>
          <a:xfrm>
            <a:off x="756625" y="8053671"/>
            <a:ext cx="10901975" cy="142243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7170" lvl="1" algn="l">
              <a:lnSpc>
                <a:spcPts val="2879"/>
              </a:lnSpc>
            </a:pPr>
            <a:r>
              <a:rPr lang="en-US" sz="2000" b="1" spc="9" dirty="0">
                <a:solidFill>
                  <a:srgbClr val="FF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Solution Necessity:</a:t>
            </a:r>
            <a:r>
              <a:rPr lang="en-US" sz="2000" spc="9" dirty="0">
                <a:solidFill>
                  <a:srgbClr val="FF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en-US" sz="20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An automated NLP-driven approach is required to analyze text at scale to bridge the gap between expression of distress and professional support.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D18137-82F8-CACA-2936-8DE4E1EA5C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508" y="1569889"/>
            <a:ext cx="4850438" cy="3606896"/>
          </a:xfrm>
          <a:prstGeom prst="rect">
            <a:avLst/>
          </a:prstGeom>
        </p:spPr>
      </p:pic>
      <p:grpSp>
        <p:nvGrpSpPr>
          <p:cNvPr id="30" name="Group 5">
            <a:extLst>
              <a:ext uri="{FF2B5EF4-FFF2-40B4-BE49-F238E27FC236}">
                <a16:creationId xmlns:a16="http://schemas.microsoft.com/office/drawing/2014/main" id="{A13A40B9-600F-F498-D7E5-9A24601A8608}"/>
              </a:ext>
            </a:extLst>
          </p:cNvPr>
          <p:cNvGrpSpPr/>
          <p:nvPr/>
        </p:nvGrpSpPr>
        <p:grpSpPr>
          <a:xfrm>
            <a:off x="688016" y="2042494"/>
            <a:ext cx="7560000" cy="180000"/>
            <a:chOff x="0" y="0"/>
            <a:chExt cx="8604062" cy="1264596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16AFC432-04E1-6E02-EA35-A3D30A155ED5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8016" y="2042494"/>
            <a:ext cx="7560000" cy="180000"/>
            <a:chOff x="0" y="0"/>
            <a:chExt cx="8604062" cy="1264596"/>
          </a:xfrm>
        </p:grpSpPr>
        <p:sp>
          <p:nvSpPr>
            <p:cNvPr id="6" name="Freeform 6"/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8945" y="904795"/>
            <a:ext cx="11108519" cy="929355"/>
            <a:chOff x="-12700" y="-2337766"/>
            <a:chExt cx="15550250" cy="4102258"/>
          </a:xfrm>
        </p:grpSpPr>
        <p:sp>
          <p:nvSpPr>
            <p:cNvPr id="8" name="Freeform 8"/>
            <p:cNvSpPr/>
            <p:nvPr/>
          </p:nvSpPr>
          <p:spPr>
            <a:xfrm>
              <a:off x="-12700" y="-2337766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Objectives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77495" y="68534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27176" y="9914154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id="25" name="Graphic 24" descr="Magnifying glass with solid fill">
            <a:extLst>
              <a:ext uri="{FF2B5EF4-FFF2-40B4-BE49-F238E27FC236}">
                <a16:creationId xmlns:a16="http://schemas.microsoft.com/office/drawing/2014/main" id="{2CB98BC9-F8DD-8AE6-0D48-C3C89BA7AF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97373" y="2821858"/>
            <a:ext cx="914400" cy="914400"/>
          </a:xfrm>
          <a:prstGeom prst="rect">
            <a:avLst/>
          </a:prstGeom>
        </p:spPr>
      </p:pic>
      <p:pic>
        <p:nvPicPr>
          <p:cNvPr id="27" name="Graphic 26" descr="Brain with solid fill">
            <a:extLst>
              <a:ext uri="{FF2B5EF4-FFF2-40B4-BE49-F238E27FC236}">
                <a16:creationId xmlns:a16="http://schemas.microsoft.com/office/drawing/2014/main" id="{3BAFE759-D2F1-A967-8618-AABAFDBEDF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7373" y="7105689"/>
            <a:ext cx="914400" cy="914400"/>
          </a:xfrm>
          <a:prstGeom prst="rect">
            <a:avLst/>
          </a:prstGeom>
        </p:spPr>
      </p:pic>
      <p:pic>
        <p:nvPicPr>
          <p:cNvPr id="29" name="Graphic 28" descr="Hourglass Finished with solid fill">
            <a:extLst>
              <a:ext uri="{FF2B5EF4-FFF2-40B4-BE49-F238E27FC236}">
                <a16:creationId xmlns:a16="http://schemas.microsoft.com/office/drawing/2014/main" id="{82620C2B-2708-907C-30E3-05395EB8C5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9208" y="4963773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A91CC76-4B38-36B7-0E60-537D0FF77380}"/>
              </a:ext>
            </a:extLst>
          </p:cNvPr>
          <p:cNvSpPr txBox="1"/>
          <p:nvPr/>
        </p:nvSpPr>
        <p:spPr>
          <a:xfrm>
            <a:off x="2057400" y="2911425"/>
            <a:ext cx="105379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KR" sz="3200" b="1" dirty="0">
                <a:solidFill>
                  <a:srgbClr val="0070C0"/>
                </a:solidFill>
              </a:rPr>
              <a:t> Real  Time Detection </a:t>
            </a:r>
            <a:r>
              <a:rPr lang="en-KR" sz="3200" dirty="0"/>
              <a:t>: Automatically classify and detect                mental helath conditions from social medial posts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1E68E3-E256-D57E-9B11-0ED319EE6B15}"/>
              </a:ext>
            </a:extLst>
          </p:cNvPr>
          <p:cNvSpPr txBox="1"/>
          <p:nvPr/>
        </p:nvSpPr>
        <p:spPr>
          <a:xfrm>
            <a:off x="2057400" y="4886784"/>
            <a:ext cx="91800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KR" sz="3200" b="1" dirty="0">
                <a:solidFill>
                  <a:srgbClr val="0070C0"/>
                </a:solidFill>
              </a:rPr>
              <a:t> </a:t>
            </a:r>
            <a:r>
              <a:rPr lang="en-US" sz="3200" dirty="0"/>
              <a:t>Leverages machine learning models to classify mental health conditions from real-time social media text data.</a:t>
            </a:r>
            <a:endParaRPr lang="en-KR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38B6D6-D4AB-4EC6-92C6-BC5B0CD3F1BA}"/>
              </a:ext>
            </a:extLst>
          </p:cNvPr>
          <p:cNvSpPr txBox="1"/>
          <p:nvPr/>
        </p:nvSpPr>
        <p:spPr>
          <a:xfrm>
            <a:off x="2057400" y="7121463"/>
            <a:ext cx="91800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KR" sz="3200" b="1" dirty="0">
                <a:solidFill>
                  <a:srgbClr val="0070C0"/>
                </a:solidFill>
              </a:rPr>
              <a:t> Contextual Analysis</a:t>
            </a:r>
          </a:p>
          <a:p>
            <a:r>
              <a:rPr lang="en-KR" sz="3200" dirty="0"/>
              <a:t>Utilize fine-tuned DistilBert Model to identify patterns related to mental health states and    provide fast, reliable deployed cloud API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B0DD29C-4AF4-7F91-DC18-0B990D33FC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7464" y="5387171"/>
            <a:ext cx="5484675" cy="4351436"/>
          </a:xfrm>
          <a:prstGeom prst="rect">
            <a:avLst/>
          </a:prstGeom>
          <a:effectLst>
            <a:outerShdw blurRad="50800" dir="5400000" sx="1000" sy="1000" algn="ctr" rotWithShape="0">
              <a:srgbClr val="000000"/>
            </a:outerShd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2872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82956" y="5303708"/>
            <a:ext cx="17059398" cy="454862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82956" y="1132640"/>
            <a:ext cx="11087844" cy="928800"/>
            <a:chOff x="0" y="-664204"/>
            <a:chExt cx="15537551" cy="24286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4204"/>
              <a:ext cx="15537550" cy="2428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SDG Relation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F4AC9C3-E3CC-8F46-A804-EA8D11A139E2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40" y="3429015"/>
            <a:ext cx="4604400" cy="324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B60BEE-D60A-E884-9B1E-F882FB5F5D7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" t="1" b="1190"/>
          <a:stretch/>
        </p:blipFill>
        <p:spPr>
          <a:xfrm>
            <a:off x="11364387" y="3429015"/>
            <a:ext cx="4604400" cy="3200209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23B144B-8383-8B4D-A8A8-4B15999BC66C}"/>
              </a:ext>
            </a:extLst>
          </p:cNvPr>
          <p:cNvSpPr/>
          <p:nvPr/>
        </p:nvSpPr>
        <p:spPr>
          <a:xfrm>
            <a:off x="619022" y="6891259"/>
            <a:ext cx="6542437" cy="2438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879"/>
              </a:lnSpc>
            </a:pPr>
            <a:r>
              <a:rPr lang="en-US" sz="2000" spc="9" dirty="0">
                <a:solidFill>
                  <a:schemeClr val="tx1">
                    <a:lumMod val="50000"/>
                    <a:lumOff val="50000"/>
                  </a:schemeClr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By supporting early awareness of mental-health risk patterns, the system aims to assist organizations in promoting mental well-being and prevention, while avoiding harmful automation.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61C3626-43D1-4A35-FEA9-1793F0AFF276}"/>
              </a:ext>
            </a:extLst>
          </p:cNvPr>
          <p:cNvSpPr/>
          <p:nvPr/>
        </p:nvSpPr>
        <p:spPr>
          <a:xfrm>
            <a:off x="10529987" y="6920831"/>
            <a:ext cx="6541200" cy="2438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879"/>
              </a:lnSpc>
            </a:pPr>
            <a:r>
              <a:rPr lang="en-US" sz="2000" spc="9" dirty="0">
                <a:solidFill>
                  <a:schemeClr val="tx1">
                    <a:lumMod val="50000"/>
                    <a:lumOff val="50000"/>
                  </a:schemeClr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By leveraging modern NLP models and cloud-based APIs, the system demonstrates how  AI can be applied  to analyze large-scale social-media data. The project emphasizes scalable, modular design and supports innovation in digital monitoring tools.</a:t>
            </a:r>
          </a:p>
        </p:txBody>
      </p:sp>
      <p:grpSp>
        <p:nvGrpSpPr>
          <p:cNvPr id="32" name="Group 5">
            <a:extLst>
              <a:ext uri="{FF2B5EF4-FFF2-40B4-BE49-F238E27FC236}">
                <a16:creationId xmlns:a16="http://schemas.microsoft.com/office/drawing/2014/main" id="{A3F5B96A-8019-7113-2B4C-CA382582C714}"/>
              </a:ext>
            </a:extLst>
          </p:cNvPr>
          <p:cNvGrpSpPr/>
          <p:nvPr/>
        </p:nvGrpSpPr>
        <p:grpSpPr>
          <a:xfrm>
            <a:off x="688016" y="2042494"/>
            <a:ext cx="7560000" cy="180000"/>
            <a:chOff x="0" y="0"/>
            <a:chExt cx="8604062" cy="1264596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FA99BBA9-66FE-DB43-12EF-7FCC01D9E7F1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7349424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723" y="2095500"/>
            <a:ext cx="12174327" cy="8191500"/>
            <a:chOff x="0" y="0"/>
            <a:chExt cx="24432934" cy="1109560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6" name="Freeform 6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8" name="Freeform 8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10" name="Freeform 10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4" name="Freeform 14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r="-16160" b="-5143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061220" y="3067194"/>
            <a:ext cx="6380205" cy="6194822"/>
            <a:chOff x="0" y="0"/>
            <a:chExt cx="8506940" cy="825976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" b="-1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812947" y="4974724"/>
            <a:ext cx="8723645" cy="9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550" b="1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4898" y="2754036"/>
            <a:ext cx="12030496" cy="477892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690880" lvl="2">
              <a:lnSpc>
                <a:spcPts val="2879"/>
              </a:lnSpc>
            </a:pPr>
            <a:endParaRPr lang="en-US" sz="2400" u="sng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  <a:hlinkClick r:id="rId3" tooltip="https://www.kaggle.com/code/annastasy/mental-health-sentiment-analysis-nlp-ml/input"/>
            </a:endParaRPr>
          </a:p>
          <a:p>
            <a:pPr marL="560070" lvl="1" indent="-342900">
              <a:lnSpc>
                <a:spcPts val="2879"/>
              </a:lnSpc>
              <a:buFont typeface="Courier New" panose="02070309020205020404" pitchFamily="49" charset="0"/>
              <a:buChar char="o"/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560070" lvl="1" indent="-342900">
              <a:lnSpc>
                <a:spcPts val="2879"/>
              </a:lnSpc>
              <a:buFont typeface="Wingdings" pitchFamily="2" charset="2"/>
              <a:buChar char="§"/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Source : Primary dataset from Kaggle (Mental Health Sentiment Analysis)</a:t>
            </a:r>
          </a:p>
          <a:p>
            <a:pPr marL="217170" lvl="1">
              <a:lnSpc>
                <a:spcPts val="2879"/>
              </a:lnSpc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	</a:t>
            </a:r>
          </a:p>
          <a:p>
            <a:pPr marL="217170" lvl="1">
              <a:lnSpc>
                <a:spcPts val="2879"/>
              </a:lnSpc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	Characteristics:</a:t>
            </a:r>
          </a:p>
          <a:p>
            <a:pPr marL="560070" lvl="1" indent="-342900">
              <a:lnSpc>
                <a:spcPts val="2879"/>
              </a:lnSpc>
              <a:buFont typeface="Courier New" panose="02070309020205020404" pitchFamily="49" charset="0"/>
              <a:buChar char="o"/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	Short, informal text </a:t>
            </a:r>
          </a:p>
          <a:p>
            <a:pPr marL="560070" lvl="1" indent="-342900">
              <a:lnSpc>
                <a:spcPts val="2879"/>
              </a:lnSpc>
              <a:buFont typeface="Courier New" panose="02070309020205020404" pitchFamily="49" charset="0"/>
              <a:buChar char="o"/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	Emotionally expressive language</a:t>
            </a:r>
          </a:p>
          <a:p>
            <a:pPr marL="560070" lvl="1" indent="-342900">
              <a:lnSpc>
                <a:spcPts val="2879"/>
              </a:lnSpc>
              <a:buFont typeface="Courier New" panose="02070309020205020404" pitchFamily="49" charset="0"/>
              <a:buChar char="o"/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	Multiple mental-health categories</a:t>
            </a:r>
          </a:p>
          <a:p>
            <a:pPr marL="217170" lvl="1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217170" lvl="1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560070" lvl="1" indent="-342900">
              <a:lnSpc>
                <a:spcPts val="2879"/>
              </a:lnSpc>
              <a:buFont typeface="Wingdings" pitchFamily="2" charset="2"/>
              <a:buChar char="§"/>
            </a:pPr>
            <a:r>
              <a: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Live social-media posts (scraped via API for deployment testing)</a:t>
            </a:r>
          </a:p>
          <a:p>
            <a:pPr marL="217170" lvl="1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560070" lvl="1" indent="-342900">
              <a:lnSpc>
                <a:spcPts val="2879"/>
              </a:lnSpc>
              <a:buFont typeface="Courier New" panose="02070309020205020404" pitchFamily="49" charset="0"/>
              <a:buChar char="o"/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217170" lvl="1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algn="l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2956" y="1045302"/>
            <a:ext cx="11653162" cy="12805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427"/>
              </a:lnSpc>
            </a:pPr>
            <a:r>
              <a:rPr lang="en-US" sz="5025" b="1" spc="20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80E913A-BBCB-82B8-4214-CD23C02D7C27}"/>
              </a:ext>
            </a:extLst>
          </p:cNvPr>
          <p:cNvSpPr/>
          <p:nvPr/>
        </p:nvSpPr>
        <p:spPr>
          <a:xfrm>
            <a:off x="564898" y="8379728"/>
            <a:ext cx="15854098" cy="914400"/>
          </a:xfrm>
          <a:prstGeom prst="rect">
            <a:avLst/>
          </a:prstGeom>
          <a:solidFill>
            <a:srgbClr val="FFDA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400" dirty="0">
                <a:solidFill>
                  <a:schemeClr val="accent6">
                    <a:lumMod val="50000"/>
                  </a:schemeClr>
                </a:solidFill>
              </a:rPr>
              <a:t>Data Source Link : </a:t>
            </a:r>
            <a:r>
              <a:rPr lang="en-US" sz="2000" u="sng" spc="9" dirty="0">
                <a:solidFill>
                  <a:schemeClr val="accent6">
                    <a:lumMod val="50000"/>
                  </a:schemeClr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  <a:hlinkClick r:id="rId3" tooltip="https://www.kaggle.com/code/annastasy/mental-health-sentiment-analysis-nlp-ml/inpu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https://www.kaggle.com/code/annastasy/mental-health-sentiment-analysis-nlp-ml/input</a:t>
            </a:r>
          </a:p>
          <a:p>
            <a:pPr algn="ctr"/>
            <a:endParaRPr lang="en-KR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4575B75-2561-E5CC-6239-DD6D35E2B4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8804" y="2573517"/>
            <a:ext cx="5257800" cy="5702300"/>
          </a:xfrm>
          <a:prstGeom prst="rect">
            <a:avLst/>
          </a:prstGeom>
        </p:spPr>
      </p:pic>
      <p:grpSp>
        <p:nvGrpSpPr>
          <p:cNvPr id="25" name="Group 5">
            <a:extLst>
              <a:ext uri="{FF2B5EF4-FFF2-40B4-BE49-F238E27FC236}">
                <a16:creationId xmlns:a16="http://schemas.microsoft.com/office/drawing/2014/main" id="{E1C59666-016D-E61E-E2F4-6A5D0F16AF8B}"/>
              </a:ext>
            </a:extLst>
          </p:cNvPr>
          <p:cNvGrpSpPr/>
          <p:nvPr/>
        </p:nvGrpSpPr>
        <p:grpSpPr>
          <a:xfrm>
            <a:off x="682956" y="2109262"/>
            <a:ext cx="7560000" cy="180000"/>
            <a:chOff x="0" y="0"/>
            <a:chExt cx="8604062" cy="1264596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1C53CB3-166C-F614-A421-E08635FA1A13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9022179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621" y="4834561"/>
            <a:ext cx="12030496" cy="3189767"/>
            <a:chOff x="0" y="0"/>
            <a:chExt cx="16040662" cy="42530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40663" cy="4253023"/>
            </a:xfrm>
            <a:custGeom>
              <a:avLst/>
              <a:gdLst/>
              <a:ahLst/>
              <a:cxnLst/>
              <a:rect l="l" t="t" r="r" b="b"/>
              <a:pathLst>
                <a:path w="16040663" h="4253023">
                  <a:moveTo>
                    <a:pt x="0" y="0"/>
                  </a:moveTo>
                  <a:lnTo>
                    <a:pt x="16040663" y="0"/>
                  </a:lnTo>
                  <a:lnTo>
                    <a:pt x="16040663" y="4253023"/>
                  </a:lnTo>
                  <a:lnTo>
                    <a:pt x="0" y="42530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040662" cy="4253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endPara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46233" y="985422"/>
            <a:ext cx="11653162" cy="128050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5427"/>
              </a:lnSpc>
            </a:pPr>
            <a:r>
              <a:rPr lang="en-US" sz="5025" b="1" spc="20" dirty="0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 Preprocessing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5EA68659-7627-927D-2F92-28F60A6B9D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43" y="2584407"/>
            <a:ext cx="10502087" cy="184070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247F70-27A8-AD3F-2C0A-5CB0600B13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92" y="4453205"/>
            <a:ext cx="5746299" cy="378565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6AC2A68-64E2-6088-0488-5C56D047D66E}"/>
              </a:ext>
            </a:extLst>
          </p:cNvPr>
          <p:cNvSpPr txBox="1"/>
          <p:nvPr/>
        </p:nvSpPr>
        <p:spPr>
          <a:xfrm>
            <a:off x="894010" y="5065815"/>
            <a:ext cx="9067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KR" sz="2400" dirty="0">
                <a:solidFill>
                  <a:srgbClr val="002060"/>
                </a:solidFill>
              </a:rPr>
              <a:t>Text Cleaning and Normalization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-KR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KR" sz="2400" dirty="0">
                <a:solidFill>
                  <a:srgbClr val="002060"/>
                </a:solidFill>
              </a:rPr>
              <a:t>Removal of empty data / invalid Posts</a:t>
            </a:r>
          </a:p>
          <a:p>
            <a:pPr marL="285750" indent="-285750">
              <a:buFont typeface="Wingdings" pitchFamily="2" charset="2"/>
              <a:buChar char="Ø"/>
            </a:pPr>
            <a:endParaRPr lang="en-KR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KR" sz="2400" dirty="0">
                <a:solidFill>
                  <a:srgbClr val="002060"/>
                </a:solidFill>
              </a:rPr>
              <a:t>Translation of non-english to enlgish for modal compatibility</a:t>
            </a:r>
          </a:p>
          <a:p>
            <a:pPr marL="285750" indent="-285750">
              <a:buFont typeface="Wingdings" pitchFamily="2" charset="2"/>
              <a:buChar char="Ø"/>
            </a:pPr>
            <a:endParaRPr lang="en-KR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KR" sz="2400" dirty="0">
                <a:solidFill>
                  <a:srgbClr val="002060"/>
                </a:solidFill>
              </a:rPr>
              <a:t>Used Random Over Sampler for unbalanced data</a:t>
            </a:r>
          </a:p>
          <a:p>
            <a:pPr marL="285750" indent="-285750">
              <a:buFont typeface="Wingdings" pitchFamily="2" charset="2"/>
              <a:buChar char="Ø"/>
            </a:pPr>
            <a:endParaRPr lang="en-KR" sz="2400" dirty="0">
              <a:solidFill>
                <a:srgbClr val="00206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KR" sz="2400" dirty="0">
                <a:solidFill>
                  <a:srgbClr val="002060"/>
                </a:solidFill>
              </a:rPr>
              <a:t>Preservation of original text for human review and transparency</a:t>
            </a:r>
          </a:p>
          <a:p>
            <a:pPr marL="285750" indent="-285750">
              <a:buFont typeface="Wingdings" pitchFamily="2" charset="2"/>
              <a:buChar char="Ø"/>
            </a:pPr>
            <a:endParaRPr lang="en-KR" sz="2400" dirty="0">
              <a:solidFill>
                <a:srgbClr val="002060"/>
              </a:solidFill>
            </a:endParaRPr>
          </a:p>
        </p:txBody>
      </p:sp>
      <p:grpSp>
        <p:nvGrpSpPr>
          <p:cNvPr id="28" name="Group 5">
            <a:extLst>
              <a:ext uri="{FF2B5EF4-FFF2-40B4-BE49-F238E27FC236}">
                <a16:creationId xmlns:a16="http://schemas.microsoft.com/office/drawing/2014/main" id="{1C97EAC8-75C9-20C5-55B0-D9F5AA24B152}"/>
              </a:ext>
            </a:extLst>
          </p:cNvPr>
          <p:cNvGrpSpPr/>
          <p:nvPr/>
        </p:nvGrpSpPr>
        <p:grpSpPr>
          <a:xfrm>
            <a:off x="684333" y="2262672"/>
            <a:ext cx="7560000" cy="180000"/>
            <a:chOff x="0" y="0"/>
            <a:chExt cx="8604062" cy="1264596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455D9E6F-58E0-E5FC-D633-2102C14A86D4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66654"/>
            <a:ext cx="12877800" cy="8394071"/>
            <a:chOff x="0" y="0"/>
            <a:chExt cx="24432934" cy="1109560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6" name="Freeform 6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8" name="Freeform 8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259300" y="-1250037"/>
            <a:ext cx="808054" cy="1617030"/>
            <a:chOff x="0" y="0"/>
            <a:chExt cx="1077406" cy="2156040"/>
          </a:xfrm>
        </p:grpSpPr>
        <p:sp>
          <p:nvSpPr>
            <p:cNvPr id="10" name="Freeform 10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4" name="Freeform 14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r="-16160" b="-5143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061220" y="3067194"/>
            <a:ext cx="6380205" cy="6194822"/>
            <a:chOff x="0" y="0"/>
            <a:chExt cx="8506940" cy="825976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" b="-1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1201400" y="5143500"/>
            <a:ext cx="8723645" cy="9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550" b="1" spc="22" dirty="0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51756" y="3939195"/>
            <a:ext cx="14484344" cy="62250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434340" lvl="1" indent="-217170" algn="l">
              <a:lnSpc>
                <a:spcPts val="2879"/>
              </a:lnSpc>
            </a:pPr>
            <a:endParaRPr lang="en-US" sz="2400" spc="9" dirty="0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49124" y="992872"/>
            <a:ext cx="11840380" cy="1349274"/>
            <a:chOff x="-670176" y="-1923423"/>
            <a:chExt cx="15787174" cy="1799032"/>
          </a:xfrm>
        </p:grpSpPr>
        <p:sp>
          <p:nvSpPr>
            <p:cNvPr id="8" name="Freeform 8"/>
            <p:cNvSpPr/>
            <p:nvPr/>
          </p:nvSpPr>
          <p:spPr>
            <a:xfrm>
              <a:off x="-670176" y="-1923423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-420552" y="-1831732"/>
              <a:ext cx="15537550" cy="17073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4"/>
                </a:lnSpc>
              </a:pPr>
              <a:r>
                <a:rPr lang="en-US" sz="4522" b="1" spc="18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 Selection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BF9C3A23-A9D8-DF32-AE1D-9C9E5D21DF99}"/>
              </a:ext>
            </a:extLst>
          </p:cNvPr>
          <p:cNvGrpSpPr/>
          <p:nvPr/>
        </p:nvGrpSpPr>
        <p:grpSpPr>
          <a:xfrm>
            <a:off x="684333" y="2262672"/>
            <a:ext cx="7560000" cy="180000"/>
            <a:chOff x="0" y="0"/>
            <a:chExt cx="8604062" cy="1264596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29B5FA7-BC4B-9807-A8AF-061F720971B2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96DEAE4-2A28-466E-33F1-3676F63110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4" y="3747681"/>
            <a:ext cx="6332676" cy="489765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D724969-89E8-9E8A-799C-E68BCF6B5DF4}"/>
              </a:ext>
            </a:extLst>
          </p:cNvPr>
          <p:cNvSpPr/>
          <p:nvPr/>
        </p:nvSpPr>
        <p:spPr>
          <a:xfrm>
            <a:off x="7696200" y="3390900"/>
            <a:ext cx="9106717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Baseline Approach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Initially experimented with classic models (Logistic Regression, </a:t>
            </a:r>
            <a:r>
              <a:rPr lang="en-US" sz="2400" dirty="0" err="1">
                <a:solidFill>
                  <a:schemeClr val="tx1"/>
                </a:solidFill>
              </a:rPr>
              <a:t>XGBoost</a:t>
            </a:r>
            <a:r>
              <a:rPr lang="en-US" sz="2400" dirty="0">
                <a:solidFill>
                  <a:schemeClr val="tx1"/>
                </a:solidFill>
              </a:rPr>
              <a:t>) using TF-IDF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Limitation: Failed to capture context (e.g., distinguishing "not happy" from "happy") due to lack of sequence awareness</a:t>
            </a:r>
            <a:endParaRPr lang="en-KR" sz="24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D91BB9-3B35-B26C-4C4E-133A034BBD9B}"/>
              </a:ext>
            </a:extLst>
          </p:cNvPr>
          <p:cNvSpPr/>
          <p:nvPr/>
        </p:nvSpPr>
        <p:spPr>
          <a:xfrm>
            <a:off x="7696200" y="6507954"/>
            <a:ext cx="9106717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17570" lvl="8">
              <a:lnSpc>
                <a:spcPts val="3600"/>
              </a:lnSpc>
            </a:pPr>
            <a:r>
              <a:rPr lang="en-US" sz="2400" b="1" spc="9" dirty="0">
                <a:solidFill>
                  <a:srgbClr val="000000"/>
                </a:solidFill>
                <a:latin typeface="+mj-lt"/>
                <a:ea typeface="Merriweather Sans Light"/>
                <a:cs typeface="Merriweather Sans Light"/>
                <a:sym typeface="Merriweather Sans Light"/>
              </a:rPr>
              <a:t>Selected Architecture</a:t>
            </a:r>
            <a:endParaRPr lang="en-US" sz="2400" b="1" spc="9" dirty="0">
              <a:solidFill>
                <a:srgbClr val="000000"/>
              </a:solidFill>
              <a:latin typeface="+mj-lt"/>
              <a:ea typeface="Merriweather Sans Bold"/>
              <a:cs typeface="Merriweather Sans Bold"/>
              <a:sym typeface="Merriweather Sans Bold"/>
            </a:endParaRPr>
          </a:p>
          <a:p>
            <a:pPr marL="434340" lvl="1" indent="-217170" algn="l">
              <a:lnSpc>
                <a:spcPts val="3600"/>
              </a:lnSpc>
              <a:buFont typeface="Arial"/>
              <a:buChar char="•"/>
            </a:pPr>
            <a:r>
              <a:rPr lang="en-US" sz="2400" spc="9" dirty="0" err="1">
                <a:solidFill>
                  <a:srgbClr val="000000"/>
                </a:solidFill>
                <a:ea typeface="Merriweather Sans Bold"/>
                <a:cs typeface="Merriweather Sans Bold"/>
                <a:sym typeface="Merriweather Sans Bold"/>
              </a:rPr>
              <a:t>DistilBERT</a:t>
            </a:r>
            <a:r>
              <a:rPr lang="en-US" sz="2400" spc="9" dirty="0">
                <a:solidFill>
                  <a:srgbClr val="000000"/>
                </a:solidFill>
                <a:ea typeface="Merriweather Sans Bold"/>
                <a:cs typeface="Merriweather Sans Bold"/>
                <a:sym typeface="Merriweather Sans Bold"/>
              </a:rPr>
              <a:t> (</a:t>
            </a:r>
            <a:r>
              <a:rPr lang="en-US" sz="2400" spc="9" dirty="0" err="1">
                <a:solidFill>
                  <a:srgbClr val="000000"/>
                </a:solidFill>
                <a:ea typeface="Merriweather Sans Bold"/>
                <a:cs typeface="Merriweather Sans Bold"/>
                <a:sym typeface="Merriweather Sans Bold"/>
              </a:rPr>
              <a:t>distilbert</a:t>
            </a:r>
            <a:r>
              <a:rPr lang="en-US" sz="2400" spc="9" dirty="0">
                <a:solidFill>
                  <a:srgbClr val="000000"/>
                </a:solidFill>
                <a:ea typeface="Merriweather Sans Bold"/>
                <a:cs typeface="Merriweather Sans Bold"/>
                <a:sym typeface="Merriweather Sans Bold"/>
              </a:rPr>
              <a:t>-base-uncased)</a:t>
            </a:r>
          </a:p>
          <a:p>
            <a:pPr marL="434340" lvl="1" indent="-217170" algn="l">
              <a:lnSpc>
                <a:spcPts val="3600"/>
              </a:lnSpc>
              <a:buFont typeface="Arial"/>
              <a:buChar char="•"/>
            </a:pPr>
            <a:r>
              <a:rPr lang="en-US" sz="2400" spc="9" dirty="0">
                <a:solidFill>
                  <a:srgbClr val="000000"/>
                </a:solidFill>
                <a:ea typeface="Merriweather Sans Light"/>
                <a:cs typeface="Merriweather Sans Light"/>
                <a:sym typeface="Merriweather Sans Light"/>
              </a:rPr>
              <a:t>Contextual Intelligence: Uses self-attention to understand the relationship between words across the entire sentence.</a:t>
            </a:r>
          </a:p>
        </p:txBody>
      </p:sp>
    </p:spTree>
    <p:extLst>
      <p:ext uri="{BB962C8B-B14F-4D97-AF65-F5344CB8AC3E}">
        <p14:creationId xmlns:p14="http://schemas.microsoft.com/office/powerpoint/2010/main" val="35518167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51962" y="287100"/>
            <a:ext cx="12146270" cy="2156336"/>
            <a:chOff x="-670176" y="-1408982"/>
            <a:chExt cx="16207726" cy="3173474"/>
          </a:xfrm>
        </p:grpSpPr>
        <p:sp>
          <p:nvSpPr>
            <p:cNvPr id="5" name="Freeform 5"/>
            <p:cNvSpPr/>
            <p:nvPr/>
          </p:nvSpPr>
          <p:spPr>
            <a:xfrm>
              <a:off x="-670176" y="-1408982"/>
              <a:ext cx="15537552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4"/>
                </a:lnSpc>
              </a:pPr>
              <a:r>
                <a:rPr lang="en-US" sz="4522" b="1" spc="18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Models Comparison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8" name="Freeform 8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0" name="Freeform 10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2" name="Freeform 12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/>
          <p:cNvSpPr/>
          <p:nvPr/>
        </p:nvSpPr>
        <p:spPr>
          <a:xfrm>
            <a:off x="4997603" y="2793755"/>
            <a:ext cx="7438729" cy="5969350"/>
          </a:xfrm>
          <a:custGeom>
            <a:avLst/>
            <a:gdLst/>
            <a:ahLst/>
            <a:cxnLst/>
            <a:rect l="l" t="t" r="r" b="b"/>
            <a:pathLst>
              <a:path w="7438729" h="5969350">
                <a:moveTo>
                  <a:pt x="0" y="0"/>
                </a:moveTo>
                <a:lnTo>
                  <a:pt x="7438729" y="0"/>
                </a:lnTo>
                <a:lnTo>
                  <a:pt x="7438729" y="5969351"/>
                </a:lnTo>
                <a:lnTo>
                  <a:pt x="0" y="5969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8E264940-085A-A2E4-1746-C31291D274ED}"/>
              </a:ext>
            </a:extLst>
          </p:cNvPr>
          <p:cNvGrpSpPr/>
          <p:nvPr/>
        </p:nvGrpSpPr>
        <p:grpSpPr>
          <a:xfrm>
            <a:off x="684333" y="2262672"/>
            <a:ext cx="7560000" cy="180000"/>
            <a:chOff x="0" y="0"/>
            <a:chExt cx="8604062" cy="126459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2E5CEED-C519-D006-A234-0AEBD1DFCD9B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12FF689-3ACE-0EF5-4396-9B9517F6F48B}"/>
              </a:ext>
            </a:extLst>
          </p:cNvPr>
          <p:cNvSpPr txBox="1"/>
          <p:nvPr/>
        </p:nvSpPr>
        <p:spPr>
          <a:xfrm>
            <a:off x="1828800" y="8763105"/>
            <a:ext cx="15171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2800" b="0" dirty="0">
                <a:effectLst/>
              </a:rPr>
              <a:t> Efficiency: Chosen for its superior balance of high accuracy (~93%) and faster inference speed compared to larger models like </a:t>
            </a:r>
            <a:r>
              <a:rPr lang="en-US" sz="2800" b="0" dirty="0" err="1">
                <a:effectLst/>
              </a:rPr>
              <a:t>RoBERTa</a:t>
            </a:r>
            <a:r>
              <a:rPr lang="en-US" sz="2800" b="0" dirty="0">
                <a:effectLst/>
              </a:rPr>
              <a:t>. </a:t>
            </a:r>
            <a:endParaRPr lang="en-US" sz="2800" dirty="0">
              <a:effectLst/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KR" sz="3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1756" y="3939195"/>
            <a:ext cx="14484344" cy="6225089"/>
            <a:chOff x="0" y="0"/>
            <a:chExt cx="19312459" cy="83001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12460" cy="8300119"/>
            </a:xfrm>
            <a:custGeom>
              <a:avLst/>
              <a:gdLst/>
              <a:ahLst/>
              <a:cxnLst/>
              <a:rect l="l" t="t" r="r" b="b"/>
              <a:pathLst>
                <a:path w="19312460" h="8300119">
                  <a:moveTo>
                    <a:pt x="0" y="0"/>
                  </a:moveTo>
                  <a:lnTo>
                    <a:pt x="19312460" y="0"/>
                  </a:lnTo>
                  <a:lnTo>
                    <a:pt x="19312460" y="8300119"/>
                  </a:lnTo>
                  <a:lnTo>
                    <a:pt x="0" y="8300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9312459" cy="8300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endParaRPr dirty="0"/>
            </a:p>
            <a:p>
              <a:pPr marL="434340" lvl="1" indent="-21717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Training Configuration: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Tokenization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: Switched to </a:t>
              </a:r>
              <a:r>
                <a:rPr lang="en-US" sz="2400" spc="9" dirty="0" err="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WordPiece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to break words into meaningful sub-words, preserving semantic value better than stemming .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Optimization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: Utilized </a:t>
              </a:r>
              <a:r>
                <a:rPr lang="en-US" sz="2400" spc="9" dirty="0" err="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Optuna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to verify optimal learning rates 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Execution</a:t>
              </a:r>
              <a:r>
                <a:rPr lang="en-US" sz="2400" spc="9" dirty="0">
                  <a:solidFill>
                    <a:srgbClr val="000000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: 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Fine-tuned for 2 epochs with a batch size of 16 using the Hugging Face Trainer API.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endPara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  <a:p>
              <a:pPr marL="434340" lvl="1" indent="-217170" algn="l">
                <a:lnSpc>
                  <a:spcPts val="3600"/>
                </a:lnSpc>
                <a:buFont typeface="Arial"/>
                <a:buChar char="•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Testing Protocol: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Data Split: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Evaluated on a 20% held-out test set strictly unseen during training to ensure valid performance metrics.</a:t>
              </a:r>
            </a:p>
            <a:p>
              <a:pPr marL="1036320" lvl="2" indent="-345440" algn="l">
                <a:lnSpc>
                  <a:spcPts val="3600"/>
                </a:lnSpc>
                <a:buFont typeface="Arial"/>
                <a:buChar char="⚬"/>
              </a:pPr>
              <a:r>
                <a:rPr lang="en-US" sz="2400" b="1" spc="9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Primary Metric:</a:t>
              </a:r>
              <a:r>
                <a:rPr lang="en-US" sz="2400" spc="9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Prioritized Weighted F1-Score to ensure a safe balance between Precision (accuracy of flags) and Recall (catching true cases).</a:t>
              </a:r>
            </a:p>
            <a:p>
              <a:pPr algn="l">
                <a:lnSpc>
                  <a:spcPts val="2879"/>
                </a:lnSpc>
              </a:pPr>
              <a:endPara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  <a:p>
              <a:pPr marL="434340" lvl="1" indent="-217170" algn="l">
                <a:lnSpc>
                  <a:spcPts val="2879"/>
                </a:lnSpc>
              </a:pPr>
              <a:endParaRPr lang="en-US" sz="2400" spc="9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909" y="-1122070"/>
            <a:ext cx="12200265" cy="3474738"/>
            <a:chOff x="-670176" y="-2971469"/>
            <a:chExt cx="16267021" cy="4632985"/>
          </a:xfrm>
        </p:grpSpPr>
        <p:sp>
          <p:nvSpPr>
            <p:cNvPr id="8" name="Freeform 8"/>
            <p:cNvSpPr/>
            <p:nvPr/>
          </p:nvSpPr>
          <p:spPr>
            <a:xfrm>
              <a:off x="-670176" y="-2971469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59295" y="-45826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4"/>
                </a:lnSpc>
              </a:pPr>
              <a:r>
                <a:rPr lang="en-US" sz="4522" b="1" spc="18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Model Training and testing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Freeform 22"/>
          <p:cNvSpPr/>
          <p:nvPr/>
        </p:nvSpPr>
        <p:spPr>
          <a:xfrm>
            <a:off x="10993144" y="5404866"/>
            <a:ext cx="2807443" cy="536994"/>
          </a:xfrm>
          <a:custGeom>
            <a:avLst/>
            <a:gdLst/>
            <a:ahLst/>
            <a:cxnLst/>
            <a:rect l="l" t="t" r="r" b="b"/>
            <a:pathLst>
              <a:path w="2807443" h="536994">
                <a:moveTo>
                  <a:pt x="0" y="0"/>
                </a:moveTo>
                <a:lnTo>
                  <a:pt x="2807443" y="0"/>
                </a:lnTo>
                <a:lnTo>
                  <a:pt x="2807443" y="536994"/>
                </a:lnTo>
                <a:lnTo>
                  <a:pt x="0" y="5369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839425F6-98F2-573B-12EC-854D0CE365A6}"/>
              </a:ext>
            </a:extLst>
          </p:cNvPr>
          <p:cNvGrpSpPr/>
          <p:nvPr/>
        </p:nvGrpSpPr>
        <p:grpSpPr>
          <a:xfrm>
            <a:off x="537318" y="2244028"/>
            <a:ext cx="9825882" cy="335371"/>
            <a:chOff x="0" y="0"/>
            <a:chExt cx="8604062" cy="1264596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11526C4E-D1E8-C306-7E78-A5B21D6CD294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749" y="1856568"/>
            <a:ext cx="12590451" cy="8471982"/>
            <a:chOff x="0" y="0"/>
            <a:chExt cx="24432934" cy="1109560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6" name="Freeform 6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8" name="Freeform 8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10" name="Freeform 10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4" name="Freeform 14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r="-16160" b="-5143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061220" y="3067194"/>
            <a:ext cx="6380205" cy="6194822"/>
            <a:chOff x="0" y="0"/>
            <a:chExt cx="8506940" cy="825976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" b="-1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812947" y="4974724"/>
            <a:ext cx="8723645" cy="9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550" b="1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Result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82956" y="699310"/>
            <a:ext cx="2921214" cy="248720"/>
            <a:chOff x="0" y="0"/>
            <a:chExt cx="3894952" cy="331626"/>
          </a:xfrm>
        </p:grpSpPr>
        <p:sp>
          <p:nvSpPr>
            <p:cNvPr id="3" name="Freeform 3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222434" y="382575"/>
            <a:ext cx="1580448" cy="780909"/>
            <a:chOff x="0" y="0"/>
            <a:chExt cx="2107264" cy="1041212"/>
          </a:xfrm>
        </p:grpSpPr>
        <p:sp>
          <p:nvSpPr>
            <p:cNvPr id="5" name="Freeform 5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800587" y="293972"/>
            <a:ext cx="1234639" cy="941733"/>
            <a:chOff x="0" y="0"/>
            <a:chExt cx="1646186" cy="1255644"/>
          </a:xfrm>
        </p:grpSpPr>
        <p:sp>
          <p:nvSpPr>
            <p:cNvPr id="7" name="Freeform 7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000025" y="225696"/>
            <a:ext cx="534549" cy="1094670"/>
            <a:chOff x="0" y="0"/>
            <a:chExt cx="712732" cy="1459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595394" y="293972"/>
            <a:ext cx="1008050" cy="864211"/>
            <a:chOff x="0" y="0"/>
            <a:chExt cx="1344066" cy="11522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3605" y="9940222"/>
            <a:ext cx="18342351" cy="384878"/>
            <a:chOff x="0" y="0"/>
            <a:chExt cx="24456468" cy="513170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81869"/>
              </p:ext>
            </p:extLst>
          </p:nvPr>
        </p:nvGraphicFramePr>
        <p:xfrm>
          <a:off x="0" y="2063139"/>
          <a:ext cx="10668000" cy="7591567"/>
        </p:xfrm>
        <a:graphic>
          <a:graphicData uri="http://schemas.openxmlformats.org/drawingml/2006/table">
            <a:tbl>
              <a:tblPr/>
              <a:tblGrid>
                <a:gridCol w="296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3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19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+mj-lt"/>
                        </a:rPr>
                        <a:t>Category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000000"/>
                          </a:solidFill>
                          <a:latin typeface="+mj-lt"/>
                          <a:ea typeface="Merriweather Sans Bold"/>
                          <a:cs typeface="Merriweather Sans Bold"/>
                          <a:sym typeface="Merriweather Sans Bold"/>
                        </a:rPr>
                        <a:t>Precision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000000"/>
                          </a:solidFill>
                          <a:latin typeface="+mj-lt"/>
                          <a:ea typeface="Merriweather Sans Bold"/>
                          <a:cs typeface="Merriweather Sans Bold"/>
                          <a:sym typeface="Merriweather Sans Bold"/>
                        </a:rPr>
                        <a:t>Recall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b="1" dirty="0">
                          <a:solidFill>
                            <a:srgbClr val="000000"/>
                          </a:solidFill>
                          <a:latin typeface="+mj-lt"/>
                          <a:ea typeface="Merriweather Sans Bold"/>
                          <a:cs typeface="Merriweather Sans Bold"/>
                          <a:sym typeface="Merriweather Sans Bold"/>
                        </a:rPr>
                        <a:t>F1 -Score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65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Anxiety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0.98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5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Bipolar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0.99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65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Depression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0.84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0.74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0.78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65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Normal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0.96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0.94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0.95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224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Personality Disorder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665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Stress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0.97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1.00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0.98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650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Sucidial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0.79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0.86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0.82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0265">
                <a:tc gridSpan="2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Test Accuracy</a:t>
                      </a:r>
                      <a:endParaRPr lang="en-US" sz="360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000000"/>
                          </a:solidFill>
                          <a:latin typeface="+mj-lt"/>
                          <a:ea typeface="Merriweather Sans"/>
                          <a:cs typeface="Merriweather Sans"/>
                          <a:sym typeface="Merriweather Sans"/>
                        </a:rPr>
                        <a:t>0.93</a:t>
                      </a:r>
                      <a:endParaRPr lang="en-US" sz="3600" dirty="0">
                        <a:latin typeface="+mj-lt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0.93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Freeform 14">
            <a:extLst>
              <a:ext uri="{FF2B5EF4-FFF2-40B4-BE49-F238E27FC236}">
                <a16:creationId xmlns:a16="http://schemas.microsoft.com/office/drawing/2014/main" id="{B71E0086-7420-9246-323B-C0AFF9471C2D}"/>
              </a:ext>
            </a:extLst>
          </p:cNvPr>
          <p:cNvSpPr/>
          <p:nvPr/>
        </p:nvSpPr>
        <p:spPr>
          <a:xfrm>
            <a:off x="10822125" y="2063139"/>
            <a:ext cx="7398977" cy="7591567"/>
          </a:xfrm>
          <a:custGeom>
            <a:avLst/>
            <a:gdLst/>
            <a:ahLst/>
            <a:cxnLst/>
            <a:rect l="l" t="t" r="r" b="b"/>
            <a:pathLst>
              <a:path w="6493854" h="8219179">
                <a:moveTo>
                  <a:pt x="0" y="0"/>
                </a:moveTo>
                <a:lnTo>
                  <a:pt x="6493854" y="0"/>
                </a:lnTo>
                <a:lnTo>
                  <a:pt x="6493854" y="8219179"/>
                </a:lnTo>
                <a:lnTo>
                  <a:pt x="0" y="82191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2" t="-3694" r="-11046" b="-3694"/>
            </a:stretch>
          </a:blipFill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489FF1-9792-058D-844D-96409F68FFE0}"/>
              </a:ext>
            </a:extLst>
          </p:cNvPr>
          <p:cNvGrpSpPr/>
          <p:nvPr/>
        </p:nvGrpSpPr>
        <p:grpSpPr>
          <a:xfrm>
            <a:off x="-133975" y="948008"/>
            <a:ext cx="11653163" cy="1094708"/>
            <a:chOff x="-667120" y="-246921"/>
            <a:chExt cx="16204670" cy="2011413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03109BB-9E00-4C34-6AF1-B653713B9318}"/>
                </a:ext>
              </a:extLst>
            </p:cNvPr>
            <p:cNvSpPr/>
            <p:nvPr/>
          </p:nvSpPr>
          <p:spPr>
            <a:xfrm>
              <a:off x="-667120" y="-246921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KR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80EFC3-04BA-EA3C-A798-8FBC0EE0F8C9}"/>
                </a:ext>
              </a:extLst>
            </p:cNvPr>
            <p:cNvSpPr txBox="1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Evaluation Results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3" name="Freeform 3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5" name="Freeform 5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7" name="Freeform 7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Freeform 15"/>
          <p:cNvSpPr/>
          <p:nvPr/>
        </p:nvSpPr>
        <p:spPr>
          <a:xfrm>
            <a:off x="3604179" y="2737692"/>
            <a:ext cx="8731940" cy="6992302"/>
          </a:xfrm>
          <a:custGeom>
            <a:avLst/>
            <a:gdLst/>
            <a:ahLst/>
            <a:cxnLst/>
            <a:rect l="l" t="t" r="r" b="b"/>
            <a:pathLst>
              <a:path w="7284306" h="6199040">
                <a:moveTo>
                  <a:pt x="0" y="0"/>
                </a:moveTo>
                <a:lnTo>
                  <a:pt x="7284306" y="0"/>
                </a:lnTo>
                <a:lnTo>
                  <a:pt x="7284306" y="6199040"/>
                </a:lnTo>
                <a:lnTo>
                  <a:pt x="0" y="6199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2" t="-456" r="-92" b="-456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49712" y="906910"/>
            <a:ext cx="11653162" cy="1323369"/>
            <a:chOff x="0" y="0"/>
            <a:chExt cx="15537550" cy="17644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Evaluation Results</a:t>
              </a:r>
            </a:p>
          </p:txBody>
        </p:sp>
      </p:grpSp>
      <p:grpSp>
        <p:nvGrpSpPr>
          <p:cNvPr id="19" name="Group 5">
            <a:extLst>
              <a:ext uri="{FF2B5EF4-FFF2-40B4-BE49-F238E27FC236}">
                <a16:creationId xmlns:a16="http://schemas.microsoft.com/office/drawing/2014/main" id="{FF179810-1A97-5742-92DC-1E03E0F27680}"/>
              </a:ext>
            </a:extLst>
          </p:cNvPr>
          <p:cNvGrpSpPr/>
          <p:nvPr/>
        </p:nvGrpSpPr>
        <p:grpSpPr>
          <a:xfrm>
            <a:off x="638553" y="2297997"/>
            <a:ext cx="7560000" cy="180000"/>
            <a:chOff x="0" y="0"/>
            <a:chExt cx="8604062" cy="1264596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007F7C5-C9B4-C5B1-87C5-68685665D901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175213897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38963" y="1974824"/>
            <a:ext cx="18324701" cy="8321702"/>
            <a:chOff x="0" y="0"/>
            <a:chExt cx="24432934" cy="11095602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07495" cy="11070209"/>
            </a:xfrm>
            <a:custGeom>
              <a:avLst/>
              <a:gdLst/>
              <a:ahLst/>
              <a:cxnLst/>
              <a:rect l="l" t="t" r="r" b="b"/>
              <a:pathLst>
                <a:path w="24407495" h="11070209">
                  <a:moveTo>
                    <a:pt x="0" y="0"/>
                  </a:moveTo>
                  <a:lnTo>
                    <a:pt x="24407495" y="0"/>
                  </a:lnTo>
                  <a:lnTo>
                    <a:pt x="24407495" y="11070209"/>
                  </a:lnTo>
                  <a:lnTo>
                    <a:pt x="0" y="11070209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32895" cy="11095609"/>
            </a:xfrm>
            <a:custGeom>
              <a:avLst/>
              <a:gdLst/>
              <a:ahLst/>
              <a:cxnLst/>
              <a:rect l="l" t="t" r="r" b="b"/>
              <a:pathLst>
                <a:path w="24432895" h="11095609">
                  <a:moveTo>
                    <a:pt x="12700" y="0"/>
                  </a:moveTo>
                  <a:lnTo>
                    <a:pt x="24420195" y="0"/>
                  </a:lnTo>
                  <a:cubicBezTo>
                    <a:pt x="24427180" y="0"/>
                    <a:pt x="24432895" y="5715"/>
                    <a:pt x="24432895" y="12700"/>
                  </a:cubicBezTo>
                  <a:lnTo>
                    <a:pt x="24432895" y="11082909"/>
                  </a:lnTo>
                  <a:cubicBezTo>
                    <a:pt x="24432895" y="11089894"/>
                    <a:pt x="24427180" y="11095609"/>
                    <a:pt x="24420195" y="11095609"/>
                  </a:cubicBezTo>
                  <a:lnTo>
                    <a:pt x="12700" y="11095609"/>
                  </a:lnTo>
                  <a:cubicBezTo>
                    <a:pt x="5715" y="11095609"/>
                    <a:pt x="0" y="11089894"/>
                    <a:pt x="0" y="1108290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082909"/>
                  </a:lnTo>
                  <a:lnTo>
                    <a:pt x="12700" y="11082909"/>
                  </a:lnTo>
                  <a:lnTo>
                    <a:pt x="12700" y="11070209"/>
                  </a:lnTo>
                  <a:lnTo>
                    <a:pt x="24420195" y="11070209"/>
                  </a:lnTo>
                  <a:lnTo>
                    <a:pt x="24420195" y="11082909"/>
                  </a:lnTo>
                  <a:lnTo>
                    <a:pt x="24407495" y="11082909"/>
                  </a:lnTo>
                  <a:lnTo>
                    <a:pt x="24407495" y="12700"/>
                  </a:lnTo>
                  <a:lnTo>
                    <a:pt x="24420195" y="12700"/>
                  </a:lnTo>
                  <a:lnTo>
                    <a:pt x="2442019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6" name="Freeform 6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8" name="Freeform 8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10" name="Freeform 10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2" name="Freeform 12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003453" y="7913580"/>
            <a:ext cx="3394872" cy="2414976"/>
            <a:chOff x="0" y="0"/>
            <a:chExt cx="4526496" cy="3219968"/>
          </a:xfrm>
        </p:grpSpPr>
        <p:sp>
          <p:nvSpPr>
            <p:cNvPr id="14" name="Freeform 14" descr="Image"/>
            <p:cNvSpPr/>
            <p:nvPr/>
          </p:nvSpPr>
          <p:spPr>
            <a:xfrm>
              <a:off x="0" y="0"/>
              <a:ext cx="4526534" cy="3219958"/>
            </a:xfrm>
            <a:custGeom>
              <a:avLst/>
              <a:gdLst/>
              <a:ahLst/>
              <a:cxnLst/>
              <a:rect l="l" t="t" r="r" b="b"/>
              <a:pathLst>
                <a:path w="4526534" h="3219958">
                  <a:moveTo>
                    <a:pt x="0" y="0"/>
                  </a:moveTo>
                  <a:lnTo>
                    <a:pt x="4526534" y="0"/>
                  </a:lnTo>
                  <a:lnTo>
                    <a:pt x="4526534" y="3219958"/>
                  </a:lnTo>
                  <a:lnTo>
                    <a:pt x="0" y="321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73" r="-16160" b="-5143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2061220" y="3067194"/>
            <a:ext cx="6380205" cy="6194822"/>
            <a:chOff x="0" y="0"/>
            <a:chExt cx="8506940" cy="825976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8506968" cy="8259699"/>
            </a:xfrm>
            <a:custGeom>
              <a:avLst/>
              <a:gdLst/>
              <a:ahLst/>
              <a:cxnLst/>
              <a:rect l="l" t="t" r="r" b="b"/>
              <a:pathLst>
                <a:path w="8506968" h="8259699">
                  <a:moveTo>
                    <a:pt x="0" y="0"/>
                  </a:moveTo>
                  <a:lnTo>
                    <a:pt x="8506968" y="0"/>
                  </a:lnTo>
                  <a:lnTo>
                    <a:pt x="8506968" y="8259699"/>
                  </a:lnTo>
                  <a:lnTo>
                    <a:pt x="0" y="8259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" b="-1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812947" y="4974724"/>
            <a:ext cx="8723645" cy="9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5550" b="1" spc="22">
                <a:solidFill>
                  <a:srgbClr val="2B2551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Deployment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094" y="3214033"/>
            <a:ext cx="12762493" cy="4323283"/>
            <a:chOff x="0" y="0"/>
            <a:chExt cx="19013280" cy="6440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13281" cy="6440731"/>
            </a:xfrm>
            <a:custGeom>
              <a:avLst/>
              <a:gdLst/>
              <a:ahLst/>
              <a:cxnLst/>
              <a:rect l="l" t="t" r="r" b="b"/>
              <a:pathLst>
                <a:path w="19013281" h="6440731">
                  <a:moveTo>
                    <a:pt x="0" y="0"/>
                  </a:moveTo>
                  <a:lnTo>
                    <a:pt x="19013281" y="0"/>
                  </a:lnTo>
                  <a:lnTo>
                    <a:pt x="19013281" y="6440731"/>
                  </a:lnTo>
                  <a:lnTo>
                    <a:pt x="0" y="64407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9013280" cy="65169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06728" lvl="1" indent="-253364" algn="l">
                <a:lnSpc>
                  <a:spcPts val="4199"/>
                </a:lnSpc>
                <a:buFont typeface="Arial"/>
                <a:buChar char="•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Platform: 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Deployed on Azure Machine Learning using a Managed Online Endpoint for real-time inference.</a:t>
              </a:r>
            </a:p>
            <a:p>
              <a:pPr marL="253364" lvl="1" algn="l">
                <a:lnSpc>
                  <a:spcPts val="4199"/>
                </a:lnSpc>
              </a:pPr>
              <a:endParaRPr lang="en-US" sz="2799" spc="1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  <a:p>
              <a:pPr marL="506728" lvl="1" indent="-253364" algn="l">
                <a:lnSpc>
                  <a:spcPts val="4199"/>
                </a:lnSpc>
                <a:buFont typeface="Arial"/>
                <a:buChar char="•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Workflow:</a:t>
              </a:r>
            </a:p>
            <a:p>
              <a:pPr marL="1209036" lvl="2" indent="-403012" algn="l">
                <a:lnSpc>
                  <a:spcPts val="4199"/>
                </a:lnSpc>
                <a:buFont typeface="Arial"/>
                <a:buChar char="⚬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Input: 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Logic App receives a post URL.</a:t>
              </a:r>
            </a:p>
            <a:p>
              <a:pPr marL="1209036" lvl="2" indent="-403012" algn="l">
                <a:lnSpc>
                  <a:spcPts val="4199"/>
                </a:lnSpc>
                <a:buFont typeface="Arial"/>
                <a:buChar char="⚬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Scoring: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</a:t>
              </a:r>
              <a:r>
                <a:rPr lang="en-US" sz="2799" spc="11" dirty="0" err="1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score.py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script loads the model and tokenizes text.</a:t>
              </a:r>
            </a:p>
            <a:p>
              <a:pPr marL="1209036" lvl="2" indent="-403012" algn="l">
                <a:lnSpc>
                  <a:spcPts val="4199"/>
                </a:lnSpc>
                <a:buFont typeface="Arial"/>
                <a:buChar char="⚬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Safety: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Inference runs on a secure Standard_DS2_v2 instance.</a:t>
              </a:r>
            </a:p>
            <a:p>
              <a:pPr marL="1209036" lvl="2" indent="-403012" algn="l">
                <a:lnSpc>
                  <a:spcPts val="4199"/>
                </a:lnSpc>
                <a:buFont typeface="Arial"/>
                <a:buChar char="⚬"/>
              </a:pPr>
              <a:r>
                <a:rPr lang="en-US" sz="2799" b="1" spc="11" dirty="0">
                  <a:solidFill>
                    <a:srgbClr val="000000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Output:</a:t>
              </a:r>
              <a:r>
                <a:rPr lang="en-US" sz="2799" spc="11" dirty="0">
                  <a:solidFill>
                    <a:srgbClr val="000000"/>
                  </a:solidFill>
                  <a:latin typeface="Merriweather Sans Light"/>
                  <a:ea typeface="Merriweather Sans Light"/>
                  <a:cs typeface="Merriweather Sans Light"/>
                  <a:sym typeface="Merriweather Sans Light"/>
                </a:rPr>
                <a:t> JSON response with predicted status and probability.</a:t>
              </a:r>
            </a:p>
            <a:p>
              <a:pPr algn="l">
                <a:lnSpc>
                  <a:spcPts val="4199"/>
                </a:lnSpc>
              </a:pPr>
              <a:endParaRPr lang="en-US" sz="2799" spc="11" dirty="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1242" y="224714"/>
            <a:ext cx="11840379" cy="2111717"/>
            <a:chOff x="-249622" y="-1112986"/>
            <a:chExt cx="15787172" cy="2815623"/>
          </a:xfrm>
        </p:grpSpPr>
        <p:sp>
          <p:nvSpPr>
            <p:cNvPr id="8" name="Freeform 8"/>
            <p:cNvSpPr/>
            <p:nvPr/>
          </p:nvSpPr>
          <p:spPr>
            <a:xfrm>
              <a:off x="-249622" y="-1112986"/>
              <a:ext cx="15537551" cy="1702637"/>
            </a:xfrm>
            <a:custGeom>
              <a:avLst/>
              <a:gdLst/>
              <a:ahLst/>
              <a:cxnLst/>
              <a:rect l="l" t="t" r="r" b="b"/>
              <a:pathLst>
                <a:path w="15537551" h="1702637">
                  <a:moveTo>
                    <a:pt x="0" y="0"/>
                  </a:moveTo>
                  <a:lnTo>
                    <a:pt x="15537551" y="0"/>
                  </a:lnTo>
                  <a:lnTo>
                    <a:pt x="15537551" y="1702637"/>
                  </a:lnTo>
                  <a:lnTo>
                    <a:pt x="0" y="1702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15537550" cy="1645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Deployment</a:t>
              </a: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11" name="Freeform 11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3" name="Freeform 13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5" name="Freeform 15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21" name="Freeform 21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5">
            <a:extLst>
              <a:ext uri="{FF2B5EF4-FFF2-40B4-BE49-F238E27FC236}">
                <a16:creationId xmlns:a16="http://schemas.microsoft.com/office/drawing/2014/main" id="{D741DF44-B4FA-20D8-EE79-DD2E149AC0A4}"/>
              </a:ext>
            </a:extLst>
          </p:cNvPr>
          <p:cNvGrpSpPr/>
          <p:nvPr/>
        </p:nvGrpSpPr>
        <p:grpSpPr>
          <a:xfrm>
            <a:off x="684333" y="2262672"/>
            <a:ext cx="7560000" cy="180000"/>
            <a:chOff x="0" y="0"/>
            <a:chExt cx="8604062" cy="1264596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583C4F39-769D-BA8C-E5A5-CB0EE0E9203D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4699" y="595995"/>
            <a:ext cx="12333484" cy="1626606"/>
            <a:chOff x="-249623" y="-353868"/>
            <a:chExt cx="16444647" cy="2168808"/>
          </a:xfrm>
        </p:grpSpPr>
        <p:sp>
          <p:nvSpPr>
            <p:cNvPr id="5" name="Freeform 5"/>
            <p:cNvSpPr/>
            <p:nvPr/>
          </p:nvSpPr>
          <p:spPr>
            <a:xfrm>
              <a:off x="-249623" y="-353868"/>
              <a:ext cx="15537551" cy="1702637"/>
            </a:xfrm>
            <a:custGeom>
              <a:avLst/>
              <a:gdLst/>
              <a:ahLst/>
              <a:cxnLst/>
              <a:rect l="l" t="t" r="r" b="b"/>
              <a:pathLst>
                <a:path w="15537551" h="1702637">
                  <a:moveTo>
                    <a:pt x="0" y="0"/>
                  </a:moveTo>
                  <a:lnTo>
                    <a:pt x="15537551" y="0"/>
                  </a:lnTo>
                  <a:lnTo>
                    <a:pt x="15537551" y="1702637"/>
                  </a:lnTo>
                  <a:lnTo>
                    <a:pt x="0" y="17026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2" y="57151"/>
              <a:ext cx="16195026" cy="175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Deployment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8" name="Freeform 8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0" name="Freeform 10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2" name="Freeform 12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Freeform 19"/>
          <p:cNvSpPr/>
          <p:nvPr/>
        </p:nvSpPr>
        <p:spPr>
          <a:xfrm>
            <a:off x="0" y="2644254"/>
            <a:ext cx="17830800" cy="7350357"/>
          </a:xfrm>
          <a:custGeom>
            <a:avLst/>
            <a:gdLst/>
            <a:ahLst/>
            <a:cxnLst/>
            <a:rect l="l" t="t" r="r" b="b"/>
            <a:pathLst>
              <a:path w="13117630" h="7181903">
                <a:moveTo>
                  <a:pt x="0" y="0"/>
                </a:moveTo>
                <a:lnTo>
                  <a:pt x="13117631" y="0"/>
                </a:lnTo>
                <a:lnTo>
                  <a:pt x="13117631" y="7181903"/>
                </a:lnTo>
                <a:lnTo>
                  <a:pt x="0" y="71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2A7724F5-DED2-572F-ED62-6603AB8F6E72}"/>
              </a:ext>
            </a:extLst>
          </p:cNvPr>
          <p:cNvGrpSpPr/>
          <p:nvPr/>
        </p:nvGrpSpPr>
        <p:grpSpPr>
          <a:xfrm>
            <a:off x="671915" y="1919653"/>
            <a:ext cx="7560000" cy="180000"/>
            <a:chOff x="0" y="0"/>
            <a:chExt cx="8604062" cy="126459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3BB8D92-2E87-BAEE-661F-F995E8B445C6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47652" y="1119783"/>
            <a:ext cx="11750580" cy="1427431"/>
            <a:chOff x="-330821" y="-697668"/>
            <a:chExt cx="15667440" cy="1903241"/>
          </a:xfrm>
        </p:grpSpPr>
        <p:sp>
          <p:nvSpPr>
            <p:cNvPr id="5" name="Freeform 5"/>
            <p:cNvSpPr/>
            <p:nvPr/>
          </p:nvSpPr>
          <p:spPr>
            <a:xfrm>
              <a:off x="-200932" y="-558919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330821" y="-697668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 dirty="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Conclusion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8" name="Freeform 8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0" name="Freeform 10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2" name="Freeform 12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82956" y="3662522"/>
            <a:ext cx="16505874" cy="4238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Bilingual Resource: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Created a custom 2,000-sample dataset in English and Myanmar (Combined_Data_2000_en_my.csv), addressing the low-resource language gap.</a:t>
            </a: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Proven Performance: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Successfully implemented a Transformer-based model for effective cross-lingual text classification.</a:t>
            </a: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Social Impact: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Enables automated monitoring of social-media text to identify potentially harmful mental-health content, supporting SDG 3 (Good Health and Well-Being) through early risk detection and SDG 9 (Industry, Innovation, and Infrastructure) by applying AI-driven NLP systems to social platforms.</a:t>
            </a:r>
          </a:p>
          <a:p>
            <a:pPr algn="l">
              <a:lnSpc>
                <a:spcPts val="3749"/>
              </a:lnSpc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E61B8C4F-2134-1C83-0076-2B9957B8F81E}"/>
              </a:ext>
            </a:extLst>
          </p:cNvPr>
          <p:cNvGrpSpPr/>
          <p:nvPr/>
        </p:nvGrpSpPr>
        <p:grpSpPr>
          <a:xfrm>
            <a:off x="647652" y="2414352"/>
            <a:ext cx="7560000" cy="180000"/>
            <a:chOff x="0" y="0"/>
            <a:chExt cx="8604062" cy="126459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53F28B2-E1B0-7DD3-F402-4B7EAEFF5690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94115" y="1073557"/>
            <a:ext cx="11653162" cy="1323369"/>
            <a:chOff x="0" y="0"/>
            <a:chExt cx="15537550" cy="17644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537551" cy="1764492"/>
            </a:xfrm>
            <a:custGeom>
              <a:avLst/>
              <a:gdLst/>
              <a:ahLst/>
              <a:cxnLst/>
              <a:rect l="l" t="t" r="r" b="b"/>
              <a:pathLst>
                <a:path w="15537551" h="1764492">
                  <a:moveTo>
                    <a:pt x="0" y="0"/>
                  </a:moveTo>
                  <a:lnTo>
                    <a:pt x="15537551" y="0"/>
                  </a:lnTo>
                  <a:lnTo>
                    <a:pt x="15537551" y="1764492"/>
                  </a:lnTo>
                  <a:lnTo>
                    <a:pt x="0" y="1764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15537550" cy="17073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27"/>
                </a:lnSpc>
              </a:pPr>
              <a:r>
                <a:rPr lang="en-US" sz="5025" b="1" spc="20">
                  <a:solidFill>
                    <a:srgbClr val="2B2551"/>
                  </a:solidFill>
                  <a:latin typeface="Merriweather Sans Bold"/>
                  <a:ea typeface="Merriweather Sans Bold"/>
                  <a:cs typeface="Merriweather Sans Bold"/>
                  <a:sym typeface="Merriweather Sans Bold"/>
                </a:rPr>
                <a:t>Futurework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82956" y="744174"/>
            <a:ext cx="2921214" cy="248720"/>
            <a:chOff x="0" y="0"/>
            <a:chExt cx="3894952" cy="331626"/>
          </a:xfrm>
        </p:grpSpPr>
        <p:sp>
          <p:nvSpPr>
            <p:cNvPr id="8" name="Freeform 8" descr="Image"/>
            <p:cNvSpPr/>
            <p:nvPr/>
          </p:nvSpPr>
          <p:spPr>
            <a:xfrm>
              <a:off x="0" y="0"/>
              <a:ext cx="3894963" cy="331597"/>
            </a:xfrm>
            <a:custGeom>
              <a:avLst/>
              <a:gdLst/>
              <a:ahLst/>
              <a:cxnLst/>
              <a:rect l="l" t="t" r="r" b="b"/>
              <a:pathLst>
                <a:path w="3894963" h="331597">
                  <a:moveTo>
                    <a:pt x="0" y="0"/>
                  </a:moveTo>
                  <a:lnTo>
                    <a:pt x="3894963" y="0"/>
                  </a:lnTo>
                  <a:lnTo>
                    <a:pt x="3894963" y="331597"/>
                  </a:lnTo>
                  <a:lnTo>
                    <a:pt x="0" y="331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67" r="-2067" b="-8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222434" y="427439"/>
            <a:ext cx="1580448" cy="780909"/>
            <a:chOff x="0" y="0"/>
            <a:chExt cx="2107264" cy="1041212"/>
          </a:xfrm>
        </p:grpSpPr>
        <p:sp>
          <p:nvSpPr>
            <p:cNvPr id="10" name="Freeform 10" descr="Picture 7"/>
            <p:cNvSpPr/>
            <p:nvPr/>
          </p:nvSpPr>
          <p:spPr>
            <a:xfrm>
              <a:off x="0" y="0"/>
              <a:ext cx="2107311" cy="1041273"/>
            </a:xfrm>
            <a:custGeom>
              <a:avLst/>
              <a:gdLst/>
              <a:ahLst/>
              <a:cxnLst/>
              <a:rect l="l" t="t" r="r" b="b"/>
              <a:pathLst>
                <a:path w="2107311" h="1041273">
                  <a:moveTo>
                    <a:pt x="0" y="0"/>
                  </a:moveTo>
                  <a:lnTo>
                    <a:pt x="2107311" y="0"/>
                  </a:lnTo>
                  <a:lnTo>
                    <a:pt x="2107311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84" r="-582" b="5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800587" y="338836"/>
            <a:ext cx="1234639" cy="941733"/>
            <a:chOff x="0" y="0"/>
            <a:chExt cx="1646186" cy="1255644"/>
          </a:xfrm>
        </p:grpSpPr>
        <p:sp>
          <p:nvSpPr>
            <p:cNvPr id="12" name="Freeform 12" descr="Picture 9"/>
            <p:cNvSpPr/>
            <p:nvPr/>
          </p:nvSpPr>
          <p:spPr>
            <a:xfrm>
              <a:off x="0" y="0"/>
              <a:ext cx="1646174" cy="1255649"/>
            </a:xfrm>
            <a:custGeom>
              <a:avLst/>
              <a:gdLst/>
              <a:ahLst/>
              <a:cxnLst/>
              <a:rect l="l" t="t" r="r" b="b"/>
              <a:pathLst>
                <a:path w="1646174" h="1255649">
                  <a:moveTo>
                    <a:pt x="0" y="0"/>
                  </a:moveTo>
                  <a:lnTo>
                    <a:pt x="1646174" y="0"/>
                  </a:lnTo>
                  <a:lnTo>
                    <a:pt x="1646174" y="1255649"/>
                  </a:lnTo>
                  <a:lnTo>
                    <a:pt x="0" y="12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" b="-227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7000025" y="270560"/>
            <a:ext cx="534549" cy="1094670"/>
            <a:chOff x="0" y="0"/>
            <a:chExt cx="712732" cy="1459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2724" cy="1459611"/>
            </a:xfrm>
            <a:custGeom>
              <a:avLst/>
              <a:gdLst/>
              <a:ahLst/>
              <a:cxnLst/>
              <a:rect l="l" t="t" r="r" b="b"/>
              <a:pathLst>
                <a:path w="712724" h="1459611">
                  <a:moveTo>
                    <a:pt x="0" y="0"/>
                  </a:moveTo>
                  <a:lnTo>
                    <a:pt x="712724" y="0"/>
                  </a:lnTo>
                  <a:lnTo>
                    <a:pt x="712724" y="1459611"/>
                  </a:lnTo>
                  <a:lnTo>
                    <a:pt x="0" y="1459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113" b="3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2595394" y="338836"/>
            <a:ext cx="1008050" cy="864211"/>
            <a:chOff x="0" y="0"/>
            <a:chExt cx="1344066" cy="1152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4041" cy="1152271"/>
            </a:xfrm>
            <a:custGeom>
              <a:avLst/>
              <a:gdLst/>
              <a:ahLst/>
              <a:cxnLst/>
              <a:rect l="l" t="t" r="r" b="b"/>
              <a:pathLst>
                <a:path w="1344041" h="1152271">
                  <a:moveTo>
                    <a:pt x="0" y="0"/>
                  </a:moveTo>
                  <a:lnTo>
                    <a:pt x="1344041" y="0"/>
                  </a:lnTo>
                  <a:lnTo>
                    <a:pt x="1344041" y="1152271"/>
                  </a:lnTo>
                  <a:lnTo>
                    <a:pt x="0" y="1152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507" t="-31606" r="-20418" b="-316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-13605" y="9985086"/>
            <a:ext cx="18342351" cy="384878"/>
            <a:chOff x="0" y="0"/>
            <a:chExt cx="24456468" cy="51317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24431117" cy="487807"/>
            </a:xfrm>
            <a:custGeom>
              <a:avLst/>
              <a:gdLst/>
              <a:ahLst/>
              <a:cxnLst/>
              <a:rect l="l" t="t" r="r" b="b"/>
              <a:pathLst>
                <a:path w="24431117" h="487807">
                  <a:moveTo>
                    <a:pt x="0" y="0"/>
                  </a:moveTo>
                  <a:lnTo>
                    <a:pt x="24431117" y="0"/>
                  </a:lnTo>
                  <a:lnTo>
                    <a:pt x="24431117" y="487807"/>
                  </a:lnTo>
                  <a:lnTo>
                    <a:pt x="0" y="487807"/>
                  </a:lnTo>
                  <a:close/>
                </a:path>
              </a:pathLst>
            </a:custGeom>
            <a:solidFill>
              <a:srgbClr val="4617D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99522" y="3191546"/>
            <a:ext cx="16505874" cy="396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endParaRPr dirty="0"/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 Expansion: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Scale dataset to cover slang, dialects, and both </a:t>
            </a:r>
            <a:r>
              <a:rPr lang="en-US" sz="2199" spc="8" dirty="0" err="1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Zawgyi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/Unicode fonts.</a:t>
            </a: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Deployment: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Launch as a real-time Web API or mobile app for instant predictions.</a:t>
            </a: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Multimodal Model: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Integrate Speech-to-Text to analyze voice messages (popular in Myanmar).</a:t>
            </a: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474979" lvl="1" indent="-237490" algn="l">
              <a:lnSpc>
                <a:spcPts val="3299"/>
              </a:lnSpc>
              <a:buFont typeface="Arial"/>
              <a:buChar char="•"/>
            </a:pPr>
            <a:r>
              <a:rPr lang="en-US" sz="2199" b="1" spc="8" dirty="0">
                <a:solidFill>
                  <a:srgbClr val="000000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Granularity: </a:t>
            </a:r>
            <a:r>
              <a:rPr lang="en-US" sz="2199" spc="8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Upgrade from simple sentiment (Positive/Negative) to specific emotion detection (Joy, Anger, Fear).</a:t>
            </a:r>
          </a:p>
          <a:p>
            <a:pPr algn="l">
              <a:lnSpc>
                <a:spcPts val="3749"/>
              </a:lnSpc>
            </a:pPr>
            <a:endParaRPr lang="en-US" sz="2199" spc="8" dirty="0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956BC182-ADBA-B864-9E96-B88713FEFB89}"/>
              </a:ext>
            </a:extLst>
          </p:cNvPr>
          <p:cNvGrpSpPr/>
          <p:nvPr/>
        </p:nvGrpSpPr>
        <p:grpSpPr>
          <a:xfrm>
            <a:off x="721056" y="2439789"/>
            <a:ext cx="7560000" cy="180000"/>
            <a:chOff x="0" y="0"/>
            <a:chExt cx="8604062" cy="126459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BC275D78-BDE6-BC30-E08E-253C58BEDBA4}"/>
                </a:ext>
              </a:extLst>
            </p:cNvPr>
            <p:cNvSpPr/>
            <p:nvPr/>
          </p:nvSpPr>
          <p:spPr>
            <a:xfrm>
              <a:off x="12700" y="12700"/>
              <a:ext cx="8578723" cy="1239139"/>
            </a:xfrm>
            <a:custGeom>
              <a:avLst/>
              <a:gdLst/>
              <a:ahLst/>
              <a:cxnLst/>
              <a:rect l="l" t="t" r="r" b="b"/>
              <a:pathLst>
                <a:path w="8578723" h="1239139">
                  <a:moveTo>
                    <a:pt x="0" y="0"/>
                  </a:moveTo>
                  <a:lnTo>
                    <a:pt x="8578723" y="0"/>
                  </a:lnTo>
                  <a:lnTo>
                    <a:pt x="8578723" y="1239139"/>
                  </a:lnTo>
                  <a:lnTo>
                    <a:pt x="0" y="1239139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176" y="2005492"/>
            <a:ext cx="18342351" cy="8316305"/>
            <a:chOff x="0" y="0"/>
            <a:chExt cx="24456468" cy="11088406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431117" cy="11062970"/>
            </a:xfrm>
            <a:custGeom>
              <a:avLst/>
              <a:gdLst/>
              <a:ahLst/>
              <a:cxnLst/>
              <a:rect l="l" t="t" r="r" b="b"/>
              <a:pathLst>
                <a:path w="24431117" h="11062970">
                  <a:moveTo>
                    <a:pt x="0" y="0"/>
                  </a:moveTo>
                  <a:lnTo>
                    <a:pt x="24431117" y="0"/>
                  </a:lnTo>
                  <a:lnTo>
                    <a:pt x="24431117" y="11062970"/>
                  </a:lnTo>
                  <a:lnTo>
                    <a:pt x="0" y="11062970"/>
                  </a:lnTo>
                  <a:close/>
                </a:path>
              </a:pathLst>
            </a:custGeom>
            <a:solidFill>
              <a:srgbClr val="FE2E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127473" y="572394"/>
            <a:ext cx="1777568" cy="877906"/>
            <a:chOff x="0" y="0"/>
            <a:chExt cx="2370090" cy="1170542"/>
          </a:xfrm>
        </p:grpSpPr>
        <p:sp>
          <p:nvSpPr>
            <p:cNvPr id="5" name="Freeform 5" descr="Picture 7"/>
            <p:cNvSpPr/>
            <p:nvPr/>
          </p:nvSpPr>
          <p:spPr>
            <a:xfrm>
              <a:off x="0" y="0"/>
              <a:ext cx="2370074" cy="1170559"/>
            </a:xfrm>
            <a:custGeom>
              <a:avLst/>
              <a:gdLst/>
              <a:ahLst/>
              <a:cxnLst/>
              <a:rect l="l" t="t" r="r" b="b"/>
              <a:pathLst>
                <a:path w="2370074" h="1170559">
                  <a:moveTo>
                    <a:pt x="0" y="0"/>
                  </a:moveTo>
                  <a:lnTo>
                    <a:pt x="2370074" y="0"/>
                  </a:lnTo>
                  <a:lnTo>
                    <a:pt x="2370074" y="1170559"/>
                  </a:lnTo>
                  <a:lnTo>
                    <a:pt x="0" y="117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61" r="-562" b="1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445664" y="434190"/>
            <a:ext cx="1458211" cy="1119732"/>
            <a:chOff x="0" y="0"/>
            <a:chExt cx="1944282" cy="1492976"/>
          </a:xfrm>
        </p:grpSpPr>
        <p:sp>
          <p:nvSpPr>
            <p:cNvPr id="7" name="Freeform 7" descr="Picture 9"/>
            <p:cNvSpPr/>
            <p:nvPr/>
          </p:nvSpPr>
          <p:spPr>
            <a:xfrm>
              <a:off x="0" y="0"/>
              <a:ext cx="1944243" cy="1493012"/>
            </a:xfrm>
            <a:custGeom>
              <a:avLst/>
              <a:gdLst/>
              <a:ahLst/>
              <a:cxnLst/>
              <a:rect l="l" t="t" r="r" b="b"/>
              <a:pathLst>
                <a:path w="1944243" h="1493012">
                  <a:moveTo>
                    <a:pt x="0" y="0"/>
                  </a:moveTo>
                  <a:lnTo>
                    <a:pt x="1944243" y="0"/>
                  </a:lnTo>
                  <a:lnTo>
                    <a:pt x="1944243" y="1493012"/>
                  </a:lnTo>
                  <a:lnTo>
                    <a:pt x="0" y="149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" r="-109" b="2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201592" y="146404"/>
            <a:ext cx="808054" cy="1617030"/>
            <a:chOff x="0" y="0"/>
            <a:chExt cx="1077406" cy="2156040"/>
          </a:xfrm>
        </p:grpSpPr>
        <p:sp>
          <p:nvSpPr>
            <p:cNvPr id="9" name="Freeform 9" descr="pasted-movie.png"/>
            <p:cNvSpPr/>
            <p:nvPr/>
          </p:nvSpPr>
          <p:spPr>
            <a:xfrm>
              <a:off x="0" y="0"/>
              <a:ext cx="1077468" cy="2156079"/>
            </a:xfrm>
            <a:custGeom>
              <a:avLst/>
              <a:gdLst/>
              <a:ahLst/>
              <a:cxnLst/>
              <a:rect l="l" t="t" r="r" b="b"/>
              <a:pathLst>
                <a:path w="1077468" h="2156079">
                  <a:moveTo>
                    <a:pt x="0" y="0"/>
                  </a:moveTo>
                  <a:lnTo>
                    <a:pt x="1077468" y="0"/>
                  </a:lnTo>
                  <a:lnTo>
                    <a:pt x="1077468" y="2156079"/>
                  </a:lnTo>
                  <a:lnTo>
                    <a:pt x="0" y="215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4" r="5" b="-602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943321" y="366993"/>
            <a:ext cx="1380389" cy="1175602"/>
            <a:chOff x="0" y="0"/>
            <a:chExt cx="1840518" cy="1567470"/>
          </a:xfrm>
        </p:grpSpPr>
        <p:sp>
          <p:nvSpPr>
            <p:cNvPr id="11" name="Freeform 11" descr="pasted-movie.png"/>
            <p:cNvSpPr/>
            <p:nvPr/>
          </p:nvSpPr>
          <p:spPr>
            <a:xfrm>
              <a:off x="0" y="0"/>
              <a:ext cx="1840484" cy="1567434"/>
            </a:xfrm>
            <a:custGeom>
              <a:avLst/>
              <a:gdLst/>
              <a:ahLst/>
              <a:cxnLst/>
              <a:rect l="l" t="t" r="r" b="b"/>
              <a:pathLst>
                <a:path w="1840484" h="1567434">
                  <a:moveTo>
                    <a:pt x="0" y="0"/>
                  </a:moveTo>
                  <a:lnTo>
                    <a:pt x="1840484" y="0"/>
                  </a:lnTo>
                  <a:lnTo>
                    <a:pt x="1840484" y="1567434"/>
                  </a:lnTo>
                  <a:lnTo>
                    <a:pt x="0" y="1567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378" t="-31606" r="-19623" b="-31609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762031" y="3523382"/>
            <a:ext cx="4397618" cy="4274686"/>
            <a:chOff x="0" y="0"/>
            <a:chExt cx="5863490" cy="5699582"/>
          </a:xfrm>
        </p:grpSpPr>
        <p:sp>
          <p:nvSpPr>
            <p:cNvPr id="13" name="Freeform 13" descr="Image"/>
            <p:cNvSpPr/>
            <p:nvPr/>
          </p:nvSpPr>
          <p:spPr>
            <a:xfrm>
              <a:off x="0" y="0"/>
              <a:ext cx="5863463" cy="5699633"/>
            </a:xfrm>
            <a:custGeom>
              <a:avLst/>
              <a:gdLst/>
              <a:ahLst/>
              <a:cxnLst/>
              <a:rect l="l" t="t" r="r" b="b"/>
              <a:pathLst>
                <a:path w="5863463" h="5699633">
                  <a:moveTo>
                    <a:pt x="0" y="0"/>
                  </a:moveTo>
                  <a:lnTo>
                    <a:pt x="5863463" y="0"/>
                  </a:lnTo>
                  <a:lnTo>
                    <a:pt x="5863463" y="5699633"/>
                  </a:lnTo>
                  <a:lnTo>
                    <a:pt x="0" y="5699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1" b="-4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610062" y="3565461"/>
            <a:ext cx="6442015" cy="488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 spc="48">
                <a:solidFill>
                  <a:srgbClr val="FFFFFF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Thank you!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915027" y="962024"/>
            <a:ext cx="7541746" cy="10555052"/>
            <a:chOff x="0" y="0"/>
            <a:chExt cx="10055662" cy="14073402"/>
          </a:xfrm>
        </p:grpSpPr>
        <p:sp>
          <p:nvSpPr>
            <p:cNvPr id="16" name="Freeform 16" descr="Image"/>
            <p:cNvSpPr/>
            <p:nvPr/>
          </p:nvSpPr>
          <p:spPr>
            <a:xfrm>
              <a:off x="0" y="0"/>
              <a:ext cx="10055606" cy="14073378"/>
            </a:xfrm>
            <a:custGeom>
              <a:avLst/>
              <a:gdLst/>
              <a:ahLst/>
              <a:cxnLst/>
              <a:rect l="l" t="t" r="r" b="b"/>
              <a:pathLst>
                <a:path w="10055606" h="14073378">
                  <a:moveTo>
                    <a:pt x="0" y="0"/>
                  </a:moveTo>
                  <a:lnTo>
                    <a:pt x="10055606" y="0"/>
                  </a:lnTo>
                  <a:lnTo>
                    <a:pt x="10055606" y="14073378"/>
                  </a:lnTo>
                  <a:lnTo>
                    <a:pt x="0" y="14073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6" b="-16"/>
              </a:stretch>
            </a:blip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857</Words>
  <Application>Microsoft Macintosh PowerPoint</Application>
  <PresentationFormat>Custom</PresentationFormat>
  <Paragraphs>158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Merriweather Sans</vt:lpstr>
      <vt:lpstr>Merriweather Sans Bold</vt:lpstr>
      <vt:lpstr>Calibri</vt:lpstr>
      <vt:lpstr>Wingdings</vt:lpstr>
      <vt:lpstr>Merriweather Sans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Frontier_Tech_Leaders_ Programme_Capstone_Template.pptx</dc:title>
  <cp:lastModifiedBy>Aung Thu Phyo</cp:lastModifiedBy>
  <cp:revision>7</cp:revision>
  <dcterms:created xsi:type="dcterms:W3CDTF">2006-08-16T00:00:00Z</dcterms:created>
  <dcterms:modified xsi:type="dcterms:W3CDTF">2025-12-17T05:48:11Z</dcterms:modified>
  <dc:identifier>DAG7foXpeS4</dc:identifier>
</cp:coreProperties>
</file>