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Merriweather Sans Bold" charset="1" panose="00000000000000000000"/>
      <p:regular r:id="rId27"/>
    </p:embeddedFont>
    <p:embeddedFont>
      <p:font typeface="Merriweather Sans Light" charset="1" panose="00000000000000000000"/>
      <p:regular r:id="rId31"/>
    </p:embeddedFont>
    <p:embeddedFont>
      <p:font typeface="Merriweather Sans" charset="1" panose="00000000000000000000"/>
      <p:regular r:id="rId34"/>
    </p:embeddedFont>
    <p:embeddedFont>
      <p:font typeface="Canva Sans Bold" charset="1" panose="020B08030305010401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https://www.kaggle.com/code/annastasy/mental-health-sentiment-analysis-nlp-ml/input" TargetMode="External" Type="http://schemas.openxmlformats.org/officeDocument/2006/relationships/hyperlink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4478" y="2009620"/>
            <a:ext cx="18338954" cy="8300526"/>
            <a:chOff x="0" y="0"/>
            <a:chExt cx="24451938" cy="11067368"/>
          </a:xfrm>
        </p:grpSpPr>
        <p:sp>
          <p:nvSpPr>
            <p:cNvPr name="Freeform 3" id="3" descr="A person sitting at a desk using a computer  Description automatically generated"/>
            <p:cNvSpPr/>
            <p:nvPr/>
          </p:nvSpPr>
          <p:spPr>
            <a:xfrm flipH="false" flipV="false" rot="0">
              <a:off x="0" y="0"/>
              <a:ext cx="24451945" cy="11067415"/>
            </a:xfrm>
            <a:custGeom>
              <a:avLst/>
              <a:gdLst/>
              <a:ahLst/>
              <a:cxnLst/>
              <a:rect r="r" b="b" t="t" l="l"/>
              <a:pathLst>
                <a:path h="11067415" w="24451945">
                  <a:moveTo>
                    <a:pt x="0" y="0"/>
                  </a:moveTo>
                  <a:lnTo>
                    <a:pt x="24451945" y="0"/>
                  </a:lnTo>
                  <a:lnTo>
                    <a:pt x="24451945" y="11067415"/>
                  </a:lnTo>
                  <a:lnTo>
                    <a:pt x="0" y="11067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-195" r="-6250" b="-563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176" y="2000096"/>
            <a:ext cx="18324700" cy="8321702"/>
            <a:chOff x="0" y="0"/>
            <a:chExt cx="24432934" cy="110956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8" id="8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61" t="0" r="-562" b="1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10" id="10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" t="0" r="-109" b="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04" r="5" b="-602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4" id="14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73" t="0" r="-16160" b="-51433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8" id="18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" r="0" b="-1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80000">
            <a:off x="11931236" y="5686990"/>
            <a:ext cx="4077596" cy="938508"/>
            <a:chOff x="0" y="0"/>
            <a:chExt cx="5436794" cy="12513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5411343" cy="1225931"/>
            </a:xfrm>
            <a:custGeom>
              <a:avLst/>
              <a:gdLst/>
              <a:ahLst/>
              <a:cxnLst/>
              <a:rect r="r" b="b" t="t" l="l"/>
              <a:pathLst>
                <a:path h="1225931" w="5411343">
                  <a:moveTo>
                    <a:pt x="0" y="0"/>
                  </a:moveTo>
                  <a:lnTo>
                    <a:pt x="5411343" y="0"/>
                  </a:lnTo>
                  <a:lnTo>
                    <a:pt x="5411343" y="1225931"/>
                  </a:lnTo>
                  <a:lnTo>
                    <a:pt x="0" y="1225931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175972" y="4812747"/>
            <a:ext cx="6433237" cy="177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A new generation</a:t>
            </a:r>
          </a:p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of tech specialists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86098" y="4000555"/>
            <a:ext cx="7223548" cy="251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 Ment</a:t>
            </a: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al Health Detection from Social Media Posts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40020" y="8754536"/>
            <a:ext cx="4423317" cy="50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8"/>
              </a:lnSpc>
            </a:pPr>
            <a:r>
              <a:rPr lang="en-US" b="true" sz="3398" spc="13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By Group 12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756" y="4417002"/>
            <a:ext cx="12030496" cy="4778928"/>
            <a:chOff x="0" y="0"/>
            <a:chExt cx="16040662" cy="63719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40663" cy="6371904"/>
            </a:xfrm>
            <a:custGeom>
              <a:avLst/>
              <a:gdLst/>
              <a:ahLst/>
              <a:cxnLst/>
              <a:rect r="r" b="b" t="t" l="l"/>
              <a:pathLst>
                <a:path h="6371904" w="16040663">
                  <a:moveTo>
                    <a:pt x="0" y="0"/>
                  </a:moveTo>
                  <a:lnTo>
                    <a:pt x="16040663" y="0"/>
                  </a:lnTo>
                  <a:lnTo>
                    <a:pt x="16040663" y="6371904"/>
                  </a:lnTo>
                  <a:lnTo>
                    <a:pt x="0" y="6371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040662" cy="6371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Context: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Mental health is a c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ritical component of global well-being. Platforms like Facebook and X are primary forums for personal expression where users share emotions, creating a massive data stream where distress signals are often lost. </a:t>
              </a: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Problem: 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Traditional manual support and reactive reporting tools cannot handle the volume of millions of daily posts. Subtle linguistic patterns of distress often go unnoticed until a crisis becomes apparent.</a:t>
              </a: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Solution Necessity: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An auto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mated NLP-driven approach is required to analyze text at scale to bridge the gap between expression of distress and professional support.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932" y="3370328"/>
            <a:ext cx="6453046" cy="948447"/>
            <a:chOff x="0" y="0"/>
            <a:chExt cx="8604062" cy="1264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1756" y="2435439"/>
            <a:ext cx="11653162" cy="1323369"/>
            <a:chOff x="0" y="0"/>
            <a:chExt cx="15537550" cy="1764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Background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3" id="13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5" id="15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8922" y="4318774"/>
            <a:ext cx="12030496" cy="4778928"/>
            <a:chOff x="0" y="0"/>
            <a:chExt cx="16040662" cy="63719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40663" cy="6371904"/>
            </a:xfrm>
            <a:custGeom>
              <a:avLst/>
              <a:gdLst/>
              <a:ahLst/>
              <a:cxnLst/>
              <a:rect r="r" b="b" t="t" l="l"/>
              <a:pathLst>
                <a:path h="6371904" w="16040663">
                  <a:moveTo>
                    <a:pt x="0" y="0"/>
                  </a:moveTo>
                  <a:lnTo>
                    <a:pt x="16040663" y="0"/>
                  </a:lnTo>
                  <a:lnTo>
                    <a:pt x="16040663" y="6371904"/>
                  </a:lnTo>
                  <a:lnTo>
                    <a:pt x="0" y="6371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040662" cy="6371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The machine learning model aims to automatically detect and classify mental health conditions from social media text by analyzing users’ posts in real time.</a:t>
              </a:r>
            </a:p>
            <a:p>
              <a:pPr algn="l" marL="434340" indent="-217170" lvl="1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Using a fine-tuned DistilBERT model, it processes textual data to identify patterns related to mental health states (such as anxiety or normal behavior) and provides fast, reliable predictions through a deployed cloud API.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932" y="3370328"/>
            <a:ext cx="6453046" cy="948447"/>
            <a:chOff x="0" y="0"/>
            <a:chExt cx="8604062" cy="1264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1756" y="2435439"/>
            <a:ext cx="11653162" cy="1323369"/>
            <a:chOff x="0" y="0"/>
            <a:chExt cx="15537550" cy="1764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Objectives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3" id="13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5" id="15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56" y="5303708"/>
            <a:ext cx="17059398" cy="4548623"/>
            <a:chOff x="0" y="0"/>
            <a:chExt cx="22745864" cy="606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45864" cy="6064830"/>
            </a:xfrm>
            <a:custGeom>
              <a:avLst/>
              <a:gdLst/>
              <a:ahLst/>
              <a:cxnLst/>
              <a:rect r="r" b="b" t="t" l="l"/>
              <a:pathLst>
                <a:path h="6064830" w="22745864">
                  <a:moveTo>
                    <a:pt x="0" y="0"/>
                  </a:moveTo>
                  <a:lnTo>
                    <a:pt x="22745864" y="0"/>
                  </a:lnTo>
                  <a:lnTo>
                    <a:pt x="22745864" y="6064830"/>
                  </a:lnTo>
                  <a:lnTo>
                    <a:pt x="0" y="6064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745864" cy="606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SDG 3: G</a:t>
              </a: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ood Health and Well-Being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000000"/>
                  </a:solidFill>
                  <a:latin typeface="Merriweather Sans"/>
                  <a:ea typeface="Merriweather Sans"/>
                  <a:cs typeface="Merriweather Sans"/>
                  <a:sym typeface="Merriweather Sans"/>
                </a:rPr>
                <a:t>By supporting early awareness of mental-health risk patterns, the system aims to assist organizations in promoting mental well-being and prevention, while avoiding harmful automation.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SDG 9 – Industry, Innovation, and Infrastructure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spc="9">
                  <a:solidFill>
                    <a:srgbClr val="000000"/>
                  </a:solidFill>
                  <a:latin typeface="Merriweather Sans"/>
                  <a:ea typeface="Merriweather Sans"/>
                  <a:cs typeface="Merriweather Sans"/>
                  <a:sym typeface="Merriweather Sans"/>
                </a:rPr>
                <a:t>By leveraging modern natural language processing models and cloud-based APIs, the system demonstrates how AI-driven infrastructure can be applied responsibly to analyze large-scale social-media data. The project emphasizes scalable, modular design and supports innovation in digital monitoring tools while maintaining human oversight in sensitive decision-making.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932" y="3370328"/>
            <a:ext cx="6453046" cy="948447"/>
            <a:chOff x="0" y="0"/>
            <a:chExt cx="8604062" cy="1264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1756" y="2435439"/>
            <a:ext cx="11653162" cy="1323369"/>
            <a:chOff x="0" y="0"/>
            <a:chExt cx="15537550" cy="1764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SDG Relation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3" id="13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5" id="15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2947" y="4974724"/>
            <a:ext cx="8723645" cy="9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8922" y="4318775"/>
            <a:ext cx="12030496" cy="4778928"/>
            <a:chOff x="0" y="0"/>
            <a:chExt cx="16040662" cy="63719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40663" cy="6371904"/>
            </a:xfrm>
            <a:custGeom>
              <a:avLst/>
              <a:gdLst/>
              <a:ahLst/>
              <a:cxnLst/>
              <a:rect r="r" b="b" t="t" l="l"/>
              <a:pathLst>
                <a:path h="6371904" w="16040663">
                  <a:moveTo>
                    <a:pt x="0" y="0"/>
                  </a:moveTo>
                  <a:lnTo>
                    <a:pt x="16040663" y="0"/>
                  </a:lnTo>
                  <a:lnTo>
                    <a:pt x="16040663" y="6371904"/>
                  </a:lnTo>
                  <a:lnTo>
                    <a:pt x="0" y="6371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040662" cy="6371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Primary Dataset</a:t>
              </a:r>
            </a:p>
            <a:p>
              <a:pPr algn="l" marL="1036320" indent="-345440" lvl="2">
                <a:lnSpc>
                  <a:spcPts val="2879"/>
                </a:lnSpc>
                <a:buFont typeface="Arial"/>
                <a:buChar char="⚬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Source: Kaggle – Mental Health Sentiment Analysis</a:t>
              </a:r>
            </a:p>
            <a:p>
              <a:pPr algn="l" marL="1036320" indent="-345440" lvl="2">
                <a:lnSpc>
                  <a:spcPts val="2879"/>
                </a:lnSpc>
                <a:buFont typeface="Arial"/>
                <a:buChar char="⚬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Link: </a:t>
              </a:r>
              <a:r>
                <a:rPr lang="en-US" sz="2400" spc="9" u="sng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  <a:hlinkClick r:id="rId3" tooltip="https://www.kaggle.com/code/annastasy/mental-health-sentiment-analysis-nlp-ml/input"/>
                </a:rPr>
                <a:t>https://www.kaggle.com/code/annastasy/mental-health-sentiment-analysis-nlp-ml/input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Live social-media posts (scraped via API for deployment testing)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Data Characteristics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Short, informal text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Emotionally expressive language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Multiple mental-health categories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932" y="3370328"/>
            <a:ext cx="6453046" cy="948447"/>
            <a:chOff x="0" y="0"/>
            <a:chExt cx="8604062" cy="1264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1756" y="2435439"/>
            <a:ext cx="11653162" cy="1323369"/>
            <a:chOff x="0" y="0"/>
            <a:chExt cx="15537550" cy="1764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Data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7" t="0" r="-2067" b="-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3" id="13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84" t="0" r="-582" b="5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5" id="15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7" r="0" b="-22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113" b="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9507" t="-31606" r="-20418" b="-3160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756" y="4826778"/>
            <a:ext cx="12030496" cy="3189767"/>
            <a:chOff x="0" y="0"/>
            <a:chExt cx="16040662" cy="4253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40663" cy="4253023"/>
            </a:xfrm>
            <a:custGeom>
              <a:avLst/>
              <a:gdLst/>
              <a:ahLst/>
              <a:cxnLst/>
              <a:rect r="r" b="b" t="t" l="l"/>
              <a:pathLst>
                <a:path h="4253023" w="16040663">
                  <a:moveTo>
                    <a:pt x="0" y="0"/>
                  </a:moveTo>
                  <a:lnTo>
                    <a:pt x="16040663" y="0"/>
                  </a:lnTo>
                  <a:lnTo>
                    <a:pt x="16040663" y="4253023"/>
                  </a:lnTo>
                  <a:lnTo>
                    <a:pt x="0" y="42530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040662" cy="4253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Text cleaning and normalization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Removal of empty or invalid posts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Translation of non-English (e.g., Burmese) text into English for model compatibility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Preservation of original text for human review and transparency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932" y="3370328"/>
            <a:ext cx="6453046" cy="948447"/>
            <a:chOff x="0" y="0"/>
            <a:chExt cx="8604062" cy="1264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1756" y="2435439"/>
            <a:ext cx="11653162" cy="1323369"/>
            <a:chOff x="0" y="0"/>
            <a:chExt cx="15537550" cy="1764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Data Preprocessing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3" id="13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5" id="15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59300" y="-1250037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2947" y="4974724"/>
            <a:ext cx="8723645" cy="9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Model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756" y="3939195"/>
            <a:ext cx="14484344" cy="6225089"/>
            <a:chOff x="0" y="0"/>
            <a:chExt cx="19312459" cy="8300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12460" cy="8300119"/>
            </a:xfrm>
            <a:custGeom>
              <a:avLst/>
              <a:gdLst/>
              <a:ahLst/>
              <a:cxnLst/>
              <a:rect r="r" b="b" t="t" l="l"/>
              <a:pathLst>
                <a:path h="8300119" w="19312460">
                  <a:moveTo>
                    <a:pt x="0" y="0"/>
                  </a:moveTo>
                  <a:lnTo>
                    <a:pt x="19312460" y="0"/>
                  </a:lnTo>
                  <a:lnTo>
                    <a:pt x="19312460" y="8300119"/>
                  </a:lnTo>
                  <a:lnTo>
                    <a:pt x="0" y="8300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312459" cy="8300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"/>
                  <a:ea typeface="Merriweather Sans"/>
                  <a:cs typeface="Merriweather Sans"/>
                  <a:sym typeface="Merriweather Sans"/>
                </a:rPr>
                <a:t>Baseline Approach: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Initially 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experim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ented with classic models (Logistic Regression, XGBoost) using TF-IDF features .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Limitation: Failed to capture context (e.g., distinguishing "not happy" from "happy") due to lack of sequence awareness .</a:t>
              </a:r>
            </a:p>
            <a:p>
              <a:pPr algn="l" marL="434340" indent="-217170" lvl="1">
                <a:lnSpc>
                  <a:spcPts val="3600"/>
                </a:lnSpc>
              </a:pPr>
            </a:p>
            <a:p>
              <a:pPr algn="l" marL="434340" indent="-217170" lvl="1">
                <a:lnSpc>
                  <a:spcPts val="3600"/>
                </a:lnSpc>
                <a:buFont typeface="Arial"/>
                <a:buChar char="•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Selected Architectur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e:</a:t>
              </a: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 DistilBERT (distilbert-base-uncased)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Contextual Intelligence: Uses self-attention to understand the relationship between words across the entire sentence.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Efficiency: Chosen for its superior balance of high accuracy (~93%) and faster inference speed compared to larger models like RoBERTa.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932" y="3370327"/>
            <a:ext cx="6453046" cy="522327"/>
            <a:chOff x="0" y="0"/>
            <a:chExt cx="8604062" cy="696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6994"/>
              <a:ext cx="8578723" cy="682416"/>
            </a:xfrm>
            <a:custGeom>
              <a:avLst/>
              <a:gdLst/>
              <a:ahLst/>
              <a:cxnLst/>
              <a:rect r="r" b="b" t="t" l="l"/>
              <a:pathLst>
                <a:path h="682416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682416"/>
                  </a:lnTo>
                  <a:lnTo>
                    <a:pt x="0" y="682416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1756" y="2435439"/>
            <a:ext cx="11653162" cy="1323369"/>
            <a:chOff x="0" y="0"/>
            <a:chExt cx="15537550" cy="1764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84"/>
                </a:lnSpc>
              </a:pPr>
              <a:r>
                <a:rPr lang="en-US" b="true" sz="4522" spc="18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Model Selection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3" id="13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5" id="15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7932" y="2760728"/>
            <a:ext cx="6453046" cy="522327"/>
            <a:chOff x="0" y="0"/>
            <a:chExt cx="8604062" cy="696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6994"/>
              <a:ext cx="8578723" cy="682416"/>
            </a:xfrm>
            <a:custGeom>
              <a:avLst/>
              <a:gdLst/>
              <a:ahLst/>
              <a:cxnLst/>
              <a:rect r="r" b="b" t="t" l="l"/>
              <a:pathLst>
                <a:path h="682416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682416"/>
                  </a:lnTo>
                  <a:lnTo>
                    <a:pt x="0" y="682416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51756" y="1825839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84"/>
                </a:lnSpc>
              </a:pPr>
              <a:r>
                <a:rPr lang="en-US" b="true" sz="4522" spc="18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Models Comparison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4264456" y="3892654"/>
            <a:ext cx="7438729" cy="5969350"/>
          </a:xfrm>
          <a:custGeom>
            <a:avLst/>
            <a:gdLst/>
            <a:ahLst/>
            <a:cxnLst/>
            <a:rect r="r" b="b" t="t" l="l"/>
            <a:pathLst>
              <a:path h="5969350" w="7438729">
                <a:moveTo>
                  <a:pt x="0" y="0"/>
                </a:moveTo>
                <a:lnTo>
                  <a:pt x="7438729" y="0"/>
                </a:lnTo>
                <a:lnTo>
                  <a:pt x="7438729" y="5969351"/>
                </a:lnTo>
                <a:lnTo>
                  <a:pt x="0" y="596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756" y="3939195"/>
            <a:ext cx="14484344" cy="6225089"/>
            <a:chOff x="0" y="0"/>
            <a:chExt cx="19312459" cy="8300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12460" cy="8300119"/>
            </a:xfrm>
            <a:custGeom>
              <a:avLst/>
              <a:gdLst/>
              <a:ahLst/>
              <a:cxnLst/>
              <a:rect r="r" b="b" t="t" l="l"/>
              <a:pathLst>
                <a:path h="8300119" w="19312460">
                  <a:moveTo>
                    <a:pt x="0" y="0"/>
                  </a:moveTo>
                  <a:lnTo>
                    <a:pt x="19312460" y="0"/>
                  </a:lnTo>
                  <a:lnTo>
                    <a:pt x="19312460" y="8300119"/>
                  </a:lnTo>
                  <a:lnTo>
                    <a:pt x="0" y="8300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312459" cy="8300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Training Configuration: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Tokeniza</a:t>
              </a: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tion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: Sw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i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tched to WordPiece to break words into meaningful sub-words, preserving semantic value better than stemming .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Optimization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: Utilized Optuna to verify optimal learning rates 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Execution</a:t>
              </a:r>
              <a:r>
                <a:rPr lang="en-US" sz="2400" spc="9">
                  <a:solidFill>
                    <a:srgbClr val="000000"/>
                  </a:solidFill>
                  <a:latin typeface="Merriweather Sans"/>
                  <a:ea typeface="Merriweather Sans"/>
                  <a:cs typeface="Merriweather Sans"/>
                  <a:sym typeface="Merriweather Sans"/>
                </a:rPr>
                <a:t>: 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Fine-tuned for 2 epochs with a batch size of 16 using the Hugging Face Trainer API.</a:t>
              </a:r>
            </a:p>
            <a:p>
              <a:pPr algn="l" marL="434340" indent="-21717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Testing Protoco</a:t>
              </a: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l: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Data Split: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Evaluated on a 20% held-out test set strictly unseen during training to ensure valid perf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ormance metrics.</a:t>
              </a:r>
            </a:p>
            <a:p>
              <a:pPr algn="l" marL="1036320" indent="-345440" lvl="2">
                <a:lnSpc>
                  <a:spcPts val="3600"/>
                </a:lnSpc>
                <a:buFont typeface="Arial"/>
                <a:buChar char="⚬"/>
              </a:pPr>
              <a:r>
                <a:rPr lang="en-US" b="true" sz="2400" spc="9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Primary Metric:</a:t>
              </a:r>
              <a:r>
                <a:rPr lang="en-US" sz="2400" spc="9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Prioritized Weighted F1-Score to ensure a safe balance between Precision (accuracy of flags) and Recall (catching true cases).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932" y="3370327"/>
            <a:ext cx="6453046" cy="522327"/>
            <a:chOff x="0" y="0"/>
            <a:chExt cx="8604062" cy="6964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6994"/>
              <a:ext cx="8578723" cy="682416"/>
            </a:xfrm>
            <a:custGeom>
              <a:avLst/>
              <a:gdLst/>
              <a:ahLst/>
              <a:cxnLst/>
              <a:rect r="r" b="b" t="t" l="l"/>
              <a:pathLst>
                <a:path h="682416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682416"/>
                  </a:lnTo>
                  <a:lnTo>
                    <a:pt x="0" y="682416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1756" y="2435439"/>
            <a:ext cx="11653162" cy="1323369"/>
            <a:chOff x="0" y="0"/>
            <a:chExt cx="15537550" cy="1764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84"/>
                </a:lnSpc>
              </a:pPr>
              <a:r>
                <a:rPr lang="en-US" b="true" sz="4522" spc="18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Model Training and testing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3" id="13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5" id="15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993144" y="5631237"/>
            <a:ext cx="2807443" cy="536994"/>
          </a:xfrm>
          <a:custGeom>
            <a:avLst/>
            <a:gdLst/>
            <a:ahLst/>
            <a:cxnLst/>
            <a:rect r="r" b="b" t="t" l="l"/>
            <a:pathLst>
              <a:path h="536994" w="2807443">
                <a:moveTo>
                  <a:pt x="0" y="0"/>
                </a:moveTo>
                <a:lnTo>
                  <a:pt x="2807443" y="0"/>
                </a:lnTo>
                <a:lnTo>
                  <a:pt x="2807443" y="536994"/>
                </a:lnTo>
                <a:lnTo>
                  <a:pt x="0" y="5369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2947" y="4974724"/>
            <a:ext cx="8723645" cy="9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Result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3" id="3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5" id="5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7" id="7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075450" y="1365230"/>
            <a:ext cx="6493854" cy="8219179"/>
          </a:xfrm>
          <a:custGeom>
            <a:avLst/>
            <a:gdLst/>
            <a:ahLst/>
            <a:cxnLst/>
            <a:rect r="r" b="b" t="t" l="l"/>
            <a:pathLst>
              <a:path h="8219179" w="6493854">
                <a:moveTo>
                  <a:pt x="0" y="0"/>
                </a:moveTo>
                <a:lnTo>
                  <a:pt x="6493854" y="0"/>
                </a:lnTo>
                <a:lnTo>
                  <a:pt x="6493854" y="8219179"/>
                </a:lnTo>
                <a:lnTo>
                  <a:pt x="0" y="82191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694" r="-11388" b="-369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59694" y="3059260"/>
            <a:ext cx="7284306" cy="6199040"/>
          </a:xfrm>
          <a:custGeom>
            <a:avLst/>
            <a:gdLst/>
            <a:ahLst/>
            <a:cxnLst/>
            <a:rect r="r" b="b" t="t" l="l"/>
            <a:pathLst>
              <a:path h="6199040" w="7284306">
                <a:moveTo>
                  <a:pt x="0" y="0"/>
                </a:moveTo>
                <a:lnTo>
                  <a:pt x="7284306" y="0"/>
                </a:lnTo>
                <a:lnTo>
                  <a:pt x="7284306" y="6199040"/>
                </a:lnTo>
                <a:lnTo>
                  <a:pt x="0" y="61990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" t="0" r="-6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56924" y="1112070"/>
            <a:ext cx="11653162" cy="1323369"/>
            <a:chOff x="0" y="0"/>
            <a:chExt cx="15537550" cy="17644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Evaluation Results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3" id="3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5" id="5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7" id="7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28700" y="1888598"/>
          <a:ext cx="15701884" cy="7954706"/>
        </p:xfrm>
        <a:graphic>
          <a:graphicData uri="http://schemas.openxmlformats.org/drawingml/2006/table">
            <a:tbl>
              <a:tblPr/>
              <a:tblGrid>
                <a:gridCol w="4360342"/>
                <a:gridCol w="3986658"/>
                <a:gridCol w="3463885"/>
                <a:gridCol w="3890998"/>
              </a:tblGrid>
              <a:tr h="870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erriweather Sans Bold"/>
                          <a:ea typeface="Merriweather Sans Bold"/>
                          <a:cs typeface="Merriweather Sans Bold"/>
                          <a:sym typeface="Merriweather Sans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Merriweather Sans Bold"/>
                          <a:ea typeface="Merriweather Sans Bold"/>
                          <a:cs typeface="Merriweather Sans Bold"/>
                          <a:sym typeface="Merriweather Sa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Merriweather Sans Bold"/>
                          <a:ea typeface="Merriweather Sans Bold"/>
                          <a:cs typeface="Merriweather Sans Bold"/>
                          <a:sym typeface="Merriweather Sans Bold"/>
                        </a:rPr>
                        <a:t>F1 -Support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Anxiety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Bipolar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Depression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0.74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Normal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Personality Disorder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Stress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Sucidial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0.79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0.86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134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Test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Test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529460" y="1001503"/>
            <a:ext cx="67456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1966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Report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7495" cy="11070209"/>
            </a:xfrm>
            <a:custGeom>
              <a:avLst/>
              <a:gdLst/>
              <a:ahLst/>
              <a:cxnLst/>
              <a:rect r="r" b="b" t="t" l="l"/>
              <a:pathLst>
                <a:path h="11070209" w="24407495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2895" cy="11095609"/>
            </a:xfrm>
            <a:custGeom>
              <a:avLst/>
              <a:gdLst/>
              <a:ahLst/>
              <a:cxnLst/>
              <a:rect r="r" b="b" t="t" l="l"/>
              <a:pathLst>
                <a:path h="11095609" w="24432895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6" id="6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8" id="8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10" id="10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2" id="12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03453" y="7913580"/>
            <a:ext cx="3394872" cy="2414976"/>
            <a:chOff x="0" y="0"/>
            <a:chExt cx="4526496" cy="3219968"/>
          </a:xfrm>
        </p:grpSpPr>
        <p:sp>
          <p:nvSpPr>
            <p:cNvPr name="Freeform 14" id="14" descr="Image"/>
            <p:cNvSpPr/>
            <p:nvPr/>
          </p:nvSpPr>
          <p:spPr>
            <a:xfrm flipH="false" flipV="false" rot="0">
              <a:off x="0" y="0"/>
              <a:ext cx="4526534" cy="3219958"/>
            </a:xfrm>
            <a:custGeom>
              <a:avLst/>
              <a:gdLst/>
              <a:ahLst/>
              <a:cxnLst/>
              <a:rect r="r" b="b" t="t" l="l"/>
              <a:pathLst>
                <a:path h="3219958" w="4526534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t="0" r="-16160" b="-5143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061220" y="3067194"/>
            <a:ext cx="6380205" cy="6194822"/>
            <a:chOff x="0" y="0"/>
            <a:chExt cx="8506940" cy="825976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8506968" cy="8259699"/>
            </a:xfrm>
            <a:custGeom>
              <a:avLst/>
              <a:gdLst/>
              <a:ahLst/>
              <a:cxnLst/>
              <a:rect r="r" b="b" t="t" l="l"/>
              <a:pathLst>
                <a:path h="8259699" w="8506968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" r="0" b="-1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12947" y="4974724"/>
            <a:ext cx="8723645" cy="9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b="true" sz="5550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Deployment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619" y="4647053"/>
            <a:ext cx="12762493" cy="4323283"/>
            <a:chOff x="0" y="0"/>
            <a:chExt cx="19013280" cy="6440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13281" cy="6440731"/>
            </a:xfrm>
            <a:custGeom>
              <a:avLst/>
              <a:gdLst/>
              <a:ahLst/>
              <a:cxnLst/>
              <a:rect r="r" b="b" t="t" l="l"/>
              <a:pathLst>
                <a:path h="6440731" w="19013281">
                  <a:moveTo>
                    <a:pt x="0" y="0"/>
                  </a:moveTo>
                  <a:lnTo>
                    <a:pt x="19013281" y="0"/>
                  </a:lnTo>
                  <a:lnTo>
                    <a:pt x="19013281" y="6440731"/>
                  </a:lnTo>
                  <a:lnTo>
                    <a:pt x="0" y="64407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9013280" cy="6516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28" indent="-253364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Platform: </a:t>
              </a:r>
              <a:r>
                <a:rPr lang="en-US" sz="2799" spc="1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Deploy</a:t>
              </a:r>
              <a:r>
                <a:rPr lang="en-US" sz="2799" spc="1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ed on Azure Machine Learning using a Managed Online Endpoint for real-time inference.</a:t>
              </a:r>
            </a:p>
            <a:p>
              <a:pPr algn="l" marL="506728" indent="-253364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Wo</a:t>
              </a: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rkflow:</a:t>
              </a:r>
            </a:p>
            <a:p>
              <a:pPr algn="l" marL="1209036" indent="-403012" lvl="2">
                <a:lnSpc>
                  <a:spcPts val="4199"/>
                </a:lnSpc>
                <a:buFont typeface="Arial"/>
                <a:buChar char="⚬"/>
              </a:pP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Inp</a:t>
              </a: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ut: </a:t>
              </a:r>
              <a:r>
                <a:rPr lang="en-US" sz="2799" spc="1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Logic App receives a post URL.</a:t>
              </a:r>
            </a:p>
            <a:p>
              <a:pPr algn="l" marL="1209036" indent="-403012" lvl="2">
                <a:lnSpc>
                  <a:spcPts val="4199"/>
                </a:lnSpc>
                <a:buFont typeface="Arial"/>
                <a:buChar char="⚬"/>
              </a:pP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Sco</a:t>
              </a: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ring:</a:t>
              </a:r>
              <a:r>
                <a:rPr lang="en-US" sz="2799" spc="1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score.py script loads the model and tokenizes text.</a:t>
              </a:r>
            </a:p>
            <a:p>
              <a:pPr algn="l" marL="1209036" indent="-403012" lvl="2">
                <a:lnSpc>
                  <a:spcPts val="4199"/>
                </a:lnSpc>
                <a:buFont typeface="Arial"/>
                <a:buChar char="⚬"/>
              </a:pP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Saf</a:t>
              </a: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ety:</a:t>
              </a:r>
              <a:r>
                <a:rPr lang="en-US" sz="2799" spc="1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Inference runs on a secure Standard_DS2_v2 instance.</a:t>
              </a:r>
            </a:p>
            <a:p>
              <a:pPr algn="l" marL="1209036" indent="-403012" lvl="2">
                <a:lnSpc>
                  <a:spcPts val="4199"/>
                </a:lnSpc>
                <a:buFont typeface="Arial"/>
                <a:buChar char="⚬"/>
              </a:pPr>
              <a:r>
                <a:rPr lang="en-US" b="true" sz="2799" spc="11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Output:</a:t>
              </a:r>
              <a:r>
                <a:rPr lang="en-US" sz="2799" spc="1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JSON response with predicted status and probability.</a:t>
              </a:r>
            </a:p>
            <a:p>
              <a:pPr algn="l">
                <a:lnSpc>
                  <a:spcPts val="41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2956" y="2843297"/>
            <a:ext cx="6453046" cy="948447"/>
            <a:chOff x="0" y="0"/>
            <a:chExt cx="8604062" cy="1264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2956" y="1365230"/>
            <a:ext cx="11653162" cy="1276978"/>
            <a:chOff x="0" y="0"/>
            <a:chExt cx="15537550" cy="17026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7551" cy="1702637"/>
            </a:xfrm>
            <a:custGeom>
              <a:avLst/>
              <a:gdLst/>
              <a:ahLst/>
              <a:cxnLst/>
              <a:rect r="r" b="b" t="t" l="l"/>
              <a:pathLst>
                <a:path h="1702637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02637"/>
                  </a:lnTo>
                  <a:lnTo>
                    <a:pt x="0" y="17026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537550" cy="164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Deployment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3" id="13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5" id="15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56" y="2219935"/>
            <a:ext cx="6453046" cy="265391"/>
            <a:chOff x="0" y="0"/>
            <a:chExt cx="8604062" cy="353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3554"/>
              <a:ext cx="8578723" cy="346731"/>
            </a:xfrm>
            <a:custGeom>
              <a:avLst/>
              <a:gdLst/>
              <a:ahLst/>
              <a:cxnLst/>
              <a:rect r="r" b="b" t="t" l="l"/>
              <a:pathLst>
                <a:path h="346731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346730"/>
                  </a:lnTo>
                  <a:lnTo>
                    <a:pt x="0" y="346730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82956" y="1208348"/>
            <a:ext cx="11653162" cy="1276978"/>
            <a:chOff x="0" y="0"/>
            <a:chExt cx="15537550" cy="17026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02637"/>
            </a:xfrm>
            <a:custGeom>
              <a:avLst/>
              <a:gdLst/>
              <a:ahLst/>
              <a:cxnLst/>
              <a:rect r="r" b="b" t="t" l="l"/>
              <a:pathLst>
                <a:path h="1702637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02637"/>
                  </a:lnTo>
                  <a:lnTo>
                    <a:pt x="0" y="17026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64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Deployment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143563" y="2644254"/>
            <a:ext cx="13117630" cy="7181903"/>
          </a:xfrm>
          <a:custGeom>
            <a:avLst/>
            <a:gdLst/>
            <a:ahLst/>
            <a:cxnLst/>
            <a:rect r="r" b="b" t="t" l="l"/>
            <a:pathLst>
              <a:path h="7181903" w="13117630">
                <a:moveTo>
                  <a:pt x="0" y="0"/>
                </a:moveTo>
                <a:lnTo>
                  <a:pt x="13117631" y="0"/>
                </a:lnTo>
                <a:lnTo>
                  <a:pt x="13117631" y="7181903"/>
                </a:lnTo>
                <a:lnTo>
                  <a:pt x="0" y="71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46324"/>
            <a:ext cx="6453046" cy="948447"/>
            <a:chOff x="0" y="0"/>
            <a:chExt cx="8604062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42231" y="1643034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Conclusion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45068" y="4718742"/>
            <a:ext cx="16505874" cy="386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2999" spc="12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Co</a:t>
            </a:r>
            <a:r>
              <a:rPr lang="en-US" b="true" sz="2999" spc="12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nclusion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b="true" sz="2199" spc="8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Bilingual Resource: </a:t>
            </a:r>
            <a:r>
              <a:rPr lang="en-US" sz="2199" spc="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Created a custom 2,000-sample dataset in English and Myanmar (Combined_Data_2000_en_my.csv), addressing the low-resource language gap.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b="true" sz="2199" spc="8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Proven Performance: </a:t>
            </a:r>
            <a:r>
              <a:rPr lang="en-US" sz="2199" spc="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Successfully implemented a Transformer-based model for effective cross-lingual text classification.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b="true" sz="2199" spc="8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Social Impact: </a:t>
            </a:r>
            <a:r>
              <a:rPr lang="en-US" sz="2199" spc="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Enables automated monitoring of social-media text to identify potentially harmful mental-health content, supporting SDG 3 (Good Health and Well-Being) through early risk detection and SDG 9 (Industry, Innovation, and Infrastructure) by applying AI-driven NLP systems to social platforms.</a:t>
            </a:r>
          </a:p>
          <a:p>
            <a:pPr algn="l">
              <a:lnSpc>
                <a:spcPts val="374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46324"/>
            <a:ext cx="6453046" cy="948447"/>
            <a:chOff x="0" y="0"/>
            <a:chExt cx="8604062" cy="126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8578723" cy="1239139"/>
            </a:xfrm>
            <a:custGeom>
              <a:avLst/>
              <a:gdLst/>
              <a:ahLst/>
              <a:cxnLst/>
              <a:rect r="r" b="b" t="t" l="l"/>
              <a:pathLst>
                <a:path h="1239139" w="8578723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42231" y="1625003"/>
            <a:ext cx="11653162" cy="1323369"/>
            <a:chOff x="0" y="0"/>
            <a:chExt cx="15537550" cy="176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37551" cy="1764492"/>
            </a:xfrm>
            <a:custGeom>
              <a:avLst/>
              <a:gdLst/>
              <a:ahLst/>
              <a:cxnLst/>
              <a:rect r="r" b="b" t="t" l="l"/>
              <a:pathLst>
                <a:path h="1764492" w="15537551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27"/>
                </a:lnSpc>
              </a:pPr>
              <a:r>
                <a:rPr lang="en-US" b="true" sz="5025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Futurework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82956" y="744174"/>
            <a:ext cx="2921214" cy="248720"/>
            <a:chOff x="0" y="0"/>
            <a:chExt cx="3894952" cy="331626"/>
          </a:xfrm>
        </p:grpSpPr>
        <p:sp>
          <p:nvSpPr>
            <p:cNvPr name="Freeform 8" id="8" descr="Image"/>
            <p:cNvSpPr/>
            <p:nvPr/>
          </p:nvSpPr>
          <p:spPr>
            <a:xfrm flipH="false" flipV="false" rot="0">
              <a:off x="0" y="0"/>
              <a:ext cx="3894963" cy="331597"/>
            </a:xfrm>
            <a:custGeom>
              <a:avLst/>
              <a:gdLst/>
              <a:ahLst/>
              <a:cxnLst/>
              <a:rect r="r" b="b" t="t" l="l"/>
              <a:pathLst>
                <a:path h="331597" w="3894963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t="0" r="-2067" b="-8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22434" y="427439"/>
            <a:ext cx="1580448" cy="780909"/>
            <a:chOff x="0" y="0"/>
            <a:chExt cx="2107264" cy="1041212"/>
          </a:xfrm>
        </p:grpSpPr>
        <p:sp>
          <p:nvSpPr>
            <p:cNvPr name="Freeform 10" id="10" descr="Picture 7"/>
            <p:cNvSpPr/>
            <p:nvPr/>
          </p:nvSpPr>
          <p:spPr>
            <a:xfrm flipH="false" flipV="false" rot="0">
              <a:off x="0" y="0"/>
              <a:ext cx="2107311" cy="1041273"/>
            </a:xfrm>
            <a:custGeom>
              <a:avLst/>
              <a:gdLst/>
              <a:ahLst/>
              <a:cxnLst/>
              <a:rect r="r" b="b" t="t" l="l"/>
              <a:pathLst>
                <a:path h="1041273" w="2107311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t="0" r="-582" b="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800587" y="338836"/>
            <a:ext cx="1234639" cy="941733"/>
            <a:chOff x="0" y="0"/>
            <a:chExt cx="1646186" cy="1255644"/>
          </a:xfrm>
        </p:grpSpPr>
        <p:sp>
          <p:nvSpPr>
            <p:cNvPr name="Freeform 12" id="12" descr="Picture 9"/>
            <p:cNvSpPr/>
            <p:nvPr/>
          </p:nvSpPr>
          <p:spPr>
            <a:xfrm flipH="false" flipV="false" rot="0">
              <a:off x="0" y="0"/>
              <a:ext cx="1646174" cy="1255649"/>
            </a:xfrm>
            <a:custGeom>
              <a:avLst/>
              <a:gdLst/>
              <a:ahLst/>
              <a:cxnLst/>
              <a:rect r="r" b="b" t="t" l="l"/>
              <a:pathLst>
                <a:path h="1255649" w="1646174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" r="0" b="-227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7000025" y="270560"/>
            <a:ext cx="534549" cy="1094670"/>
            <a:chOff x="0" y="0"/>
            <a:chExt cx="712732" cy="1459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724" cy="1459611"/>
            </a:xfrm>
            <a:custGeom>
              <a:avLst/>
              <a:gdLst/>
              <a:ahLst/>
              <a:cxnLst/>
              <a:rect r="r" b="b" t="t" l="l"/>
              <a:pathLst>
                <a:path h="1459611" w="712724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13" b="3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595394" y="338836"/>
            <a:ext cx="1008050" cy="864211"/>
            <a:chOff x="0" y="0"/>
            <a:chExt cx="1344066" cy="1152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041" cy="1152271"/>
            </a:xfrm>
            <a:custGeom>
              <a:avLst/>
              <a:gdLst/>
              <a:ahLst/>
              <a:cxnLst/>
              <a:rect r="r" b="b" t="t" l="l"/>
              <a:pathLst>
                <a:path h="1152271" w="134404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3605" y="9985086"/>
            <a:ext cx="18342351" cy="384878"/>
            <a:chOff x="0" y="0"/>
            <a:chExt cx="24456468" cy="513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431117" cy="487807"/>
            </a:xfrm>
            <a:custGeom>
              <a:avLst/>
              <a:gdLst/>
              <a:ahLst/>
              <a:cxnLst/>
              <a:rect r="r" b="b" t="t" l="l"/>
              <a:pathLst>
                <a:path h="487807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72945" y="4247221"/>
            <a:ext cx="16505874" cy="320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b="true" sz="2999" spc="11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Future Work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b="true" sz="2199" spc="8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 Expansion: </a:t>
            </a:r>
            <a:r>
              <a:rPr lang="en-US" sz="2199" spc="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Scale dataset to cover slang, dialects, and both Zawgyi/Unicode fonts.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b="true" sz="2199" spc="8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Deployment: </a:t>
            </a:r>
            <a:r>
              <a:rPr lang="en-US" sz="2199" spc="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Launch as a real-time Web API or mobile app for instant predictions.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b="true" sz="2199" spc="8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Multimodal: </a:t>
            </a:r>
            <a:r>
              <a:rPr lang="en-US" sz="2199" spc="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Integrate Speech-to-Text to analyze voice messages (popular in Myanmar).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b="true" sz="2199" spc="8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Granularity: </a:t>
            </a:r>
            <a:r>
              <a:rPr lang="en-US" sz="2199" spc="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Upgrade from simple sentiment (Positive/Negative) to specific emotion detection (Joy, Anger, Fear).</a:t>
            </a:r>
          </a:p>
          <a:p>
            <a:pPr algn="l">
              <a:lnSpc>
                <a:spcPts val="374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76" y="2005492"/>
            <a:ext cx="18342351" cy="8316305"/>
            <a:chOff x="0" y="0"/>
            <a:chExt cx="24456468" cy="11088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31117" cy="11062970"/>
            </a:xfrm>
            <a:custGeom>
              <a:avLst/>
              <a:gdLst/>
              <a:ahLst/>
              <a:cxnLst/>
              <a:rect r="r" b="b" t="t" l="l"/>
              <a:pathLst>
                <a:path h="11062970" w="24431117">
                  <a:moveTo>
                    <a:pt x="0" y="0"/>
                  </a:moveTo>
                  <a:lnTo>
                    <a:pt x="24431117" y="0"/>
                  </a:lnTo>
                  <a:lnTo>
                    <a:pt x="24431117" y="11062970"/>
                  </a:lnTo>
                  <a:lnTo>
                    <a:pt x="0" y="11062970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127473" y="572394"/>
            <a:ext cx="1777568" cy="877906"/>
            <a:chOff x="0" y="0"/>
            <a:chExt cx="2370090" cy="1170542"/>
          </a:xfrm>
        </p:grpSpPr>
        <p:sp>
          <p:nvSpPr>
            <p:cNvPr name="Freeform 5" id="5" descr="Picture 7"/>
            <p:cNvSpPr/>
            <p:nvPr/>
          </p:nvSpPr>
          <p:spPr>
            <a:xfrm flipH="false" flipV="false" rot="0">
              <a:off x="0" y="0"/>
              <a:ext cx="2370074" cy="1170559"/>
            </a:xfrm>
            <a:custGeom>
              <a:avLst/>
              <a:gdLst/>
              <a:ahLst/>
              <a:cxnLst/>
              <a:rect r="r" b="b" t="t" l="l"/>
              <a:pathLst>
                <a:path h="1170559" w="2370074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t="0" r="-562" b="1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445664" y="434190"/>
            <a:ext cx="1458211" cy="1119732"/>
            <a:chOff x="0" y="0"/>
            <a:chExt cx="1944282" cy="1492976"/>
          </a:xfrm>
        </p:grpSpPr>
        <p:sp>
          <p:nvSpPr>
            <p:cNvPr name="Freeform 7" id="7" descr="Picture 9"/>
            <p:cNvSpPr/>
            <p:nvPr/>
          </p:nvSpPr>
          <p:spPr>
            <a:xfrm flipH="false" flipV="false" rot="0">
              <a:off x="0" y="0"/>
              <a:ext cx="1944243" cy="1493012"/>
            </a:xfrm>
            <a:custGeom>
              <a:avLst/>
              <a:gdLst/>
              <a:ahLst/>
              <a:cxnLst/>
              <a:rect r="r" b="b" t="t" l="l"/>
              <a:pathLst>
                <a:path h="1493012" w="1944243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t="0" r="-109" b="2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201592" y="146404"/>
            <a:ext cx="808054" cy="1617030"/>
            <a:chOff x="0" y="0"/>
            <a:chExt cx="1077406" cy="2156040"/>
          </a:xfrm>
        </p:grpSpPr>
        <p:sp>
          <p:nvSpPr>
            <p:cNvPr name="Freeform 9" id="9" descr="pasted-movie.png"/>
            <p:cNvSpPr/>
            <p:nvPr/>
          </p:nvSpPr>
          <p:spPr>
            <a:xfrm flipH="false" flipV="false" rot="0">
              <a:off x="0" y="0"/>
              <a:ext cx="1077468" cy="2156079"/>
            </a:xfrm>
            <a:custGeom>
              <a:avLst/>
              <a:gdLst/>
              <a:ahLst/>
              <a:cxnLst/>
              <a:rect r="r" b="b" t="t" l="l"/>
              <a:pathLst>
                <a:path h="2156079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4" r="5" b="-602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943321" y="366993"/>
            <a:ext cx="1380389" cy="1175602"/>
            <a:chOff x="0" y="0"/>
            <a:chExt cx="1840518" cy="1567470"/>
          </a:xfrm>
        </p:grpSpPr>
        <p:sp>
          <p:nvSpPr>
            <p:cNvPr name="Freeform 11" id="11" descr="pasted-movie.png"/>
            <p:cNvSpPr/>
            <p:nvPr/>
          </p:nvSpPr>
          <p:spPr>
            <a:xfrm flipH="false" flipV="false" rot="0">
              <a:off x="0" y="0"/>
              <a:ext cx="1840484" cy="1567434"/>
            </a:xfrm>
            <a:custGeom>
              <a:avLst/>
              <a:gdLst/>
              <a:ahLst/>
              <a:cxnLst/>
              <a:rect r="r" b="b" t="t" l="l"/>
              <a:pathLst>
                <a:path h="1567434" w="184048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762031" y="3523382"/>
            <a:ext cx="4397618" cy="4274686"/>
            <a:chOff x="0" y="0"/>
            <a:chExt cx="5863490" cy="5699582"/>
          </a:xfrm>
        </p:grpSpPr>
        <p:sp>
          <p:nvSpPr>
            <p:cNvPr name="Freeform 13" id="13" descr="Image"/>
            <p:cNvSpPr/>
            <p:nvPr/>
          </p:nvSpPr>
          <p:spPr>
            <a:xfrm flipH="false" flipV="false" rot="0">
              <a:off x="0" y="0"/>
              <a:ext cx="5863463" cy="5699633"/>
            </a:xfrm>
            <a:custGeom>
              <a:avLst/>
              <a:gdLst/>
              <a:ahLst/>
              <a:cxnLst/>
              <a:rect r="r" b="b" t="t" l="l"/>
              <a:pathLst>
                <a:path h="5699633" w="5863463">
                  <a:moveTo>
                    <a:pt x="0" y="0"/>
                  </a:moveTo>
                  <a:lnTo>
                    <a:pt x="5863463" y="0"/>
                  </a:lnTo>
                  <a:lnTo>
                    <a:pt x="5863463" y="5699633"/>
                  </a:lnTo>
                  <a:lnTo>
                    <a:pt x="0" y="5699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1" r="0" b="-4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10062" y="3565461"/>
            <a:ext cx="6442015" cy="4888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 spc="48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Thank you!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-915027" y="962024"/>
            <a:ext cx="7541746" cy="10555052"/>
            <a:chOff x="0" y="0"/>
            <a:chExt cx="10055662" cy="14073402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10055606" cy="14073378"/>
            </a:xfrm>
            <a:custGeom>
              <a:avLst/>
              <a:gdLst/>
              <a:ahLst/>
              <a:cxnLst/>
              <a:rect r="r" b="b" t="t" l="l"/>
              <a:pathLst>
                <a:path h="14073378" w="10055606">
                  <a:moveTo>
                    <a:pt x="0" y="0"/>
                  </a:moveTo>
                  <a:lnTo>
                    <a:pt x="10055606" y="0"/>
                  </a:lnTo>
                  <a:lnTo>
                    <a:pt x="10055606" y="14073378"/>
                  </a:lnTo>
                  <a:lnTo>
                    <a:pt x="0" y="14073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" r="0" b="-1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DAG7foXpeS4</dc:identifier>
  <dcterms:modified xsi:type="dcterms:W3CDTF">2011-08-01T06:04:30Z</dcterms:modified>
  <cp:revision>1</cp:revision>
  <dc:title>Frontier_Tech_Leaders_ Programme_Capstone_Template.pptx</dc:title>
</cp:coreProperties>
</file>